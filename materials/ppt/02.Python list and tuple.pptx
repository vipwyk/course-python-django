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714" r:id="rId1"/>
  </p:sldMasterIdLst>
  <p:notesMasterIdLst>
    <p:notesMasterId r:id="rId32"/>
  </p:notesMasterIdLst>
  <p:sldIdLst>
    <p:sldId id="292" r:id="rId2"/>
    <p:sldId id="293" r:id="rId3"/>
    <p:sldId id="294" r:id="rId4"/>
    <p:sldId id="295" r:id="rId5"/>
    <p:sldId id="296" r:id="rId6"/>
    <p:sldId id="297" r:id="rId7"/>
    <p:sldId id="298" r:id="rId8"/>
    <p:sldId id="299" r:id="rId9"/>
    <p:sldId id="300" r:id="rId10"/>
    <p:sldId id="301" r:id="rId11"/>
    <p:sldId id="302" r:id="rId12"/>
    <p:sldId id="303" r:id="rId13"/>
    <p:sldId id="304" r:id="rId14"/>
    <p:sldId id="305" r:id="rId15"/>
    <p:sldId id="306" r:id="rId16"/>
    <p:sldId id="307" r:id="rId17"/>
    <p:sldId id="308" r:id="rId18"/>
    <p:sldId id="309" r:id="rId19"/>
    <p:sldId id="310" r:id="rId20"/>
    <p:sldId id="311" r:id="rId21"/>
    <p:sldId id="312" r:id="rId22"/>
    <p:sldId id="314" r:id="rId23"/>
    <p:sldId id="313" r:id="rId24"/>
    <p:sldId id="315" r:id="rId25"/>
    <p:sldId id="316" r:id="rId26"/>
    <p:sldId id="317" r:id="rId27"/>
    <p:sldId id="318" r:id="rId28"/>
    <p:sldId id="319" r:id="rId29"/>
    <p:sldId id="320" r:id="rId30"/>
    <p:sldId id="279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A107856-5554-42FB-B03E-39F5DBC370BA}" styleName="中度样式 4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660B408-B3CF-4A94-85FC-2B1E0A45F4A2}" styleName="深色样式 2 - 强调 1/强调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E8034E78-7F5D-4C2E-B375-FC64B27BC917}" styleName="深色样式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DA37D80-6434-44D0-A028-1B22A696006F}" styleName="浅色样式 3 - 强调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2833802-FEF1-4C79-8D5D-14CF1EAF98D9}" styleName="浅色样式 2 - 强调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715"/>
    <p:restoredTop sz="94715"/>
  </p:normalViewPr>
  <p:slideViewPr>
    <p:cSldViewPr snapToGrid="0" snapToObjects="1">
      <p:cViewPr>
        <p:scale>
          <a:sx n="95" d="100"/>
          <a:sy n="95" d="100"/>
        </p:scale>
        <p:origin x="3104" y="752"/>
      </p:cViewPr>
      <p:guideLst/>
    </p:cSldViewPr>
  </p:slideViewPr>
  <p:outlineViewPr>
    <p:cViewPr>
      <p:scale>
        <a:sx n="33" d="100"/>
        <a:sy n="33" d="100"/>
      </p:scale>
      <p:origin x="0" y="-564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C010DB-7202-1A46-819C-6188B92CFFA4}" type="datetimeFigureOut">
              <a:rPr kumimoji="1" lang="zh-CN" altLang="en-US" smtClean="0"/>
              <a:t>2017/7/5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670141-3BE4-C840-A895-5C83CD6F87F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640271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670141-3BE4-C840-A895-5C83CD6F87F0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65597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670141-3BE4-C840-A895-5C83CD6F87F0}" type="slidenum">
              <a:rPr kumimoji="1" lang="zh-CN" altLang="en-US" smtClean="0"/>
              <a:t>17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540904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3259" y="1300786"/>
            <a:ext cx="6517482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3259" y="3886201"/>
            <a:ext cx="6517482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7/5/17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7772870" cy="3424107"/>
          </a:xfrm>
        </p:spPr>
        <p:txBody>
          <a:bodyPr>
            <a:noAutofit/>
          </a:bodyPr>
          <a:lstStyle>
            <a:lvl1pPr>
              <a:lnSpc>
                <a:spcPct val="150000"/>
              </a:lnSpc>
              <a:defRPr sz="2400"/>
            </a:lvl1pPr>
            <a:lvl2pPr>
              <a:lnSpc>
                <a:spcPct val="150000"/>
              </a:lnSpc>
              <a:defRPr sz="2400"/>
            </a:lvl2pPr>
            <a:lvl3pPr>
              <a:lnSpc>
                <a:spcPct val="150000"/>
              </a:lnSpc>
              <a:defRPr sz="2400"/>
            </a:lvl3pPr>
            <a:lvl4pPr>
              <a:lnSpc>
                <a:spcPct val="150000"/>
              </a:lnSpc>
              <a:defRPr sz="2400"/>
            </a:lvl4pPr>
            <a:lvl5pPr>
              <a:lnSpc>
                <a:spcPct val="150000"/>
              </a:lnSpc>
              <a:defRPr sz="24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二级</a:t>
            </a:r>
          </a:p>
          <a:p>
            <a:pPr lvl="2"/>
            <a:r>
              <a:rPr lang="zh-CN" altLang="en-US" dirty="0" smtClean="0"/>
              <a:t>三级</a:t>
            </a:r>
          </a:p>
          <a:p>
            <a:pPr lvl="3"/>
            <a:r>
              <a:rPr lang="zh-CN" altLang="en-US" dirty="0" smtClean="0"/>
              <a:t>四级</a:t>
            </a:r>
          </a:p>
          <a:p>
            <a:pPr lvl="4"/>
            <a:r>
              <a:rPr lang="zh-CN" altLang="en-US" dirty="0" smtClean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smtClean="0"/>
              <a:t>7/5/17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828564"/>
            <a:ext cx="7763814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3657458"/>
            <a:ext cx="7763814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7/5/17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3829520" cy="342410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4629150" y="2367093"/>
            <a:ext cx="3829050" cy="342410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smtClean="0"/>
              <a:t>7/5/17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9746" y="2371018"/>
            <a:ext cx="3655106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331" y="3051013"/>
            <a:ext cx="3829520" cy="274018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97317" y="2371018"/>
            <a:ext cx="3661353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4629150" y="3051013"/>
            <a:ext cx="3829051" cy="274018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7/5/17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7/5/17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7/5/17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2951766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3808547" y="609601"/>
            <a:ext cx="4650122" cy="5181599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2632852"/>
            <a:ext cx="2951767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7/5/17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2" y="609600"/>
            <a:ext cx="4129618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04270" y="609601"/>
            <a:ext cx="3005851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将图片拖动到占位符，或单击添加图标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2632853"/>
            <a:ext cx="4129604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7/5/17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标题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4289374"/>
            <a:ext cx="7773324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88558" y="698261"/>
            <a:ext cx="7366899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将图片拖动到占位符，或单击添加图标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5108728"/>
            <a:ext cx="7773339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7/5/17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题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204821"/>
            <a:ext cx="7773339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7/5/17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标题的引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872588"/>
            <a:ext cx="6977064" cy="272991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2"/>
            <a:ext cx="6564224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372797"/>
            <a:ext cx="7773339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7/5/17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737626" y="887859"/>
            <a:ext cx="546888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50130" y="3120015"/>
            <a:ext cx="553641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2138722"/>
            <a:ext cx="7773339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662335"/>
            <a:ext cx="777333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7/5/17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三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1605094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3"/>
            <a:ext cx="2474232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31" y="2943356"/>
            <a:ext cx="2474232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9292" y="2367093"/>
            <a:ext cx="246864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12" y="2943356"/>
            <a:ext cx="2477513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2367093"/>
            <a:ext cx="24786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9974" y="2943356"/>
            <a:ext cx="247869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7/5/17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三栏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31" y="610772"/>
            <a:ext cx="7773339" cy="160392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31" y="4204820"/>
            <a:ext cx="2472307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331" y="2367093"/>
            <a:ext cx="2472307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将图片拖动到占位符，或单击添加图标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31" y="4781082"/>
            <a:ext cx="2472307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69" y="4204820"/>
            <a:ext cx="247637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31011" y="2367093"/>
            <a:ext cx="2477514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将图片拖动到占位符，或单击添加图标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4781081"/>
            <a:ext cx="2477514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4204820"/>
            <a:ext cx="247551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79974" y="2367093"/>
            <a:ext cx="2478696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将图片拖动到占位符，或单击添加图标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880" y="4781079"/>
            <a:ext cx="2478790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7/5/17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2367094"/>
            <a:ext cx="7773339" cy="3424107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7/5/17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609602"/>
            <a:ext cx="1914995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609602"/>
            <a:ext cx="5744043" cy="5181599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7/5/17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9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4"/>
            <a:ext cx="7773339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二级</a:t>
            </a:r>
          </a:p>
          <a:p>
            <a:pPr lvl="2"/>
            <a:r>
              <a:rPr lang="zh-CN" altLang="en-US" dirty="0" smtClean="0"/>
              <a:t>三级</a:t>
            </a:r>
          </a:p>
          <a:p>
            <a:pPr lvl="3"/>
            <a:r>
              <a:rPr lang="zh-CN" altLang="en-US" dirty="0" smtClean="0"/>
              <a:t>四级</a:t>
            </a:r>
          </a:p>
          <a:p>
            <a:pPr lvl="4"/>
            <a:r>
              <a:rPr lang="zh-CN" altLang="en-US" dirty="0" smtClean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3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7/5/17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31" y="5883276"/>
            <a:ext cx="50046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731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942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715" r:id="rId1"/>
    <p:sldLayoutId id="2147484716" r:id="rId2"/>
    <p:sldLayoutId id="2147484717" r:id="rId3"/>
    <p:sldLayoutId id="2147484718" r:id="rId4"/>
    <p:sldLayoutId id="2147484719" r:id="rId5"/>
    <p:sldLayoutId id="2147484720" r:id="rId6"/>
    <p:sldLayoutId id="2147484721" r:id="rId7"/>
    <p:sldLayoutId id="2147484722" r:id="rId8"/>
    <p:sldLayoutId id="2147484723" r:id="rId9"/>
    <p:sldLayoutId id="2147484724" r:id="rId10"/>
    <p:sldLayoutId id="2147484725" r:id="rId11"/>
    <p:sldLayoutId id="2147484726" r:id="rId12"/>
    <p:sldLayoutId id="2147484727" r:id="rId13"/>
    <p:sldLayoutId id="2147484728" r:id="rId14"/>
    <p:sldLayoutId id="2147484729" r:id="rId15"/>
    <p:sldLayoutId id="2147484730" r:id="rId16"/>
    <p:sldLayoutId id="2147484731" r:id="rId17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cap="none" baseline="0">
          <a:solidFill>
            <a:schemeClr val="tx1"/>
          </a:solidFill>
          <a:effectLst/>
          <a:latin typeface="Times New Roman" charset="0"/>
          <a:ea typeface="Times New Roman" charset="0"/>
          <a:cs typeface="Times New Roman" charset="0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b="1" i="0" kern="1200" cap="none" baseline="0">
          <a:solidFill>
            <a:schemeClr val="tx1"/>
          </a:solidFill>
          <a:effectLst/>
          <a:latin typeface="Times New Roman" charset="0"/>
          <a:ea typeface="Times New Roman" charset="0"/>
          <a:cs typeface="Times New Roman" charset="0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b="1" i="0" kern="1200" cap="none" baseline="0">
          <a:solidFill>
            <a:schemeClr val="tx1"/>
          </a:solidFill>
          <a:effectLst/>
          <a:latin typeface="Times New Roman" charset="0"/>
          <a:ea typeface="Times New Roman" charset="0"/>
          <a:cs typeface="Times New Roman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b="1" i="0" kern="1200" cap="none" baseline="0">
          <a:solidFill>
            <a:schemeClr val="tx1"/>
          </a:solidFill>
          <a:effectLst/>
          <a:latin typeface="Times New Roman" charset="0"/>
          <a:ea typeface="Times New Roman" charset="0"/>
          <a:cs typeface="Times New Roman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b="1" i="0" kern="1200" cap="none" baseline="0">
          <a:solidFill>
            <a:schemeClr val="tx1"/>
          </a:solidFill>
          <a:effectLst/>
          <a:latin typeface="Times New Roman" charset="0"/>
          <a:ea typeface="Times New Roman" charset="0"/>
          <a:cs typeface="Times New Roman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b="1" i="0" kern="1200" cap="none" baseline="0">
          <a:solidFill>
            <a:schemeClr val="tx1"/>
          </a:solidFill>
          <a:effectLst/>
          <a:latin typeface="Times New Roman" charset="0"/>
          <a:ea typeface="Times New Roman" charset="0"/>
          <a:cs typeface="Times New Roman" charset="0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zh-CN" dirty="0" smtClean="0"/>
              <a:t>Data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Structures</a:t>
            </a:r>
            <a:br>
              <a:rPr kumimoji="1" lang="en-US" altLang="zh-CN" dirty="0" smtClean="0"/>
            </a:br>
            <a:r>
              <a:rPr kumimoji="1" lang="en-US" altLang="zh-CN" dirty="0" smtClean="0"/>
              <a:t>--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List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and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Tuple</a:t>
            </a:r>
            <a:endParaRPr kumimoji="1"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7955359" y="6362701"/>
            <a:ext cx="1188641" cy="495299"/>
          </a:xfrm>
        </p:spPr>
        <p:txBody>
          <a:bodyPr/>
          <a:lstStyle/>
          <a:p>
            <a:r>
              <a:rPr kumimoji="1" lang="zh-CN" altLang="en-US" dirty="0" smtClean="0"/>
              <a:t>江琳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02635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Data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Structures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/>
              <a:t>Data structures </a:t>
            </a:r>
            <a:r>
              <a:rPr lang="en-US" altLang="zh-CN" dirty="0" smtClean="0"/>
              <a:t>are </a:t>
            </a:r>
            <a:r>
              <a:rPr lang="en-US" altLang="zh-CN" dirty="0"/>
              <a:t>used to store a collection of related data.</a:t>
            </a:r>
            <a:endParaRPr lang="zh-CN" altLang="zh-CN" dirty="0"/>
          </a:p>
          <a:p>
            <a:r>
              <a:rPr lang="en-US" altLang="zh-CN" dirty="0"/>
              <a:t>There are three built-in data structures in Python - list, tuple and dictionary.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322890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Sequence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/>
              <a:t>The most basic data structure in Python is the sequence. Each element of a sequence is assigned a number - its position or index. The first index is zero, the second index is one, and so forth</a:t>
            </a:r>
            <a:r>
              <a:rPr lang="en-US" altLang="zh-CN" dirty="0" smtClean="0"/>
              <a:t>.</a:t>
            </a:r>
          </a:p>
          <a:p>
            <a:r>
              <a:rPr lang="en-US" altLang="zh-CN" dirty="0"/>
              <a:t>the most common </a:t>
            </a:r>
            <a:r>
              <a:rPr lang="en-US" altLang="zh-CN" dirty="0" smtClean="0"/>
              <a:t>sequence</a:t>
            </a:r>
            <a:r>
              <a:rPr lang="zh-CN" altLang="en-US" dirty="0" smtClean="0"/>
              <a:t> </a:t>
            </a:r>
            <a:r>
              <a:rPr lang="en-US" altLang="zh-CN" dirty="0" smtClean="0"/>
              <a:t>are </a:t>
            </a:r>
            <a:r>
              <a:rPr lang="en-US" altLang="zh-CN" dirty="0"/>
              <a:t>lists and tuples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197580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71215" y="4454374"/>
            <a:ext cx="8801100" cy="14260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ts val="1200"/>
              </a:lnSpc>
              <a:spcAft>
                <a:spcPts val="75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altLang="zh-CN" sz="2000" b="1" kern="0" dirty="0" smtClean="0">
              <a:solidFill>
                <a:srgbClr val="313131"/>
              </a:solidFill>
              <a:latin typeface="Menlo" charset="0"/>
              <a:ea typeface="Menlo" charset="0"/>
              <a:cs typeface="Menlo" charset="0"/>
            </a:endParaRPr>
          </a:p>
          <a:p>
            <a:pPr>
              <a:lnSpc>
                <a:spcPts val="1200"/>
              </a:lnSpc>
              <a:spcAft>
                <a:spcPts val="75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2000" b="1" kern="0" dirty="0" smtClean="0">
                <a:solidFill>
                  <a:srgbClr val="313131"/>
                </a:solidFill>
                <a:latin typeface="Menlo" charset="0"/>
                <a:ea typeface="Menlo" charset="0"/>
                <a:cs typeface="Menlo" charset="0"/>
              </a:rPr>
              <a:t>list1 </a:t>
            </a:r>
            <a:r>
              <a:rPr lang="en-US" altLang="zh-CN" sz="2000" b="1" kern="0" dirty="0">
                <a:solidFill>
                  <a:srgbClr val="666600"/>
                </a:solidFill>
                <a:latin typeface="Menlo" charset="0"/>
                <a:ea typeface="Menlo" charset="0"/>
                <a:cs typeface="Menlo" charset="0"/>
              </a:rPr>
              <a:t>=</a:t>
            </a:r>
            <a:r>
              <a:rPr lang="en-US" altLang="zh-CN" sz="2000" b="1" kern="0" dirty="0">
                <a:solidFill>
                  <a:srgbClr val="313131"/>
                </a:solidFill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altLang="zh-CN" sz="2000" b="1" kern="0" dirty="0">
                <a:solidFill>
                  <a:srgbClr val="666600"/>
                </a:solidFill>
                <a:latin typeface="Menlo" charset="0"/>
                <a:ea typeface="Menlo" charset="0"/>
                <a:cs typeface="Menlo" charset="0"/>
              </a:rPr>
              <a:t>[</a:t>
            </a:r>
            <a:r>
              <a:rPr lang="en-US" altLang="zh-CN" sz="2000" b="1" kern="0" dirty="0">
                <a:solidFill>
                  <a:srgbClr val="006666"/>
                </a:solidFill>
                <a:latin typeface="Menlo" charset="0"/>
                <a:ea typeface="Menlo" charset="0"/>
                <a:cs typeface="Menlo" charset="0"/>
              </a:rPr>
              <a:t>1</a:t>
            </a:r>
            <a:r>
              <a:rPr lang="en-US" altLang="zh-CN" sz="2000" b="1" kern="0" dirty="0">
                <a:solidFill>
                  <a:srgbClr val="666600"/>
                </a:solidFill>
                <a:latin typeface="Menlo" charset="0"/>
                <a:ea typeface="Menlo" charset="0"/>
                <a:cs typeface="Menlo" charset="0"/>
              </a:rPr>
              <a:t>,</a:t>
            </a:r>
            <a:r>
              <a:rPr lang="en-US" altLang="zh-CN" sz="2000" b="1" kern="0" dirty="0">
                <a:solidFill>
                  <a:srgbClr val="313131"/>
                </a:solidFill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altLang="zh-CN" sz="2000" b="1" kern="0" dirty="0">
                <a:solidFill>
                  <a:srgbClr val="006666"/>
                </a:solidFill>
                <a:latin typeface="Menlo" charset="0"/>
                <a:ea typeface="Menlo" charset="0"/>
                <a:cs typeface="Menlo" charset="0"/>
              </a:rPr>
              <a:t>2</a:t>
            </a:r>
            <a:r>
              <a:rPr lang="en-US" altLang="zh-CN" sz="2000" b="1" kern="0" dirty="0">
                <a:solidFill>
                  <a:srgbClr val="666600"/>
                </a:solidFill>
                <a:latin typeface="Menlo" charset="0"/>
                <a:ea typeface="Menlo" charset="0"/>
                <a:cs typeface="Menlo" charset="0"/>
              </a:rPr>
              <a:t>,</a:t>
            </a:r>
            <a:r>
              <a:rPr lang="en-US" altLang="zh-CN" sz="2000" b="1" kern="0" dirty="0">
                <a:solidFill>
                  <a:srgbClr val="313131"/>
                </a:solidFill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altLang="zh-CN" sz="2000" b="1" kern="0" dirty="0">
                <a:solidFill>
                  <a:srgbClr val="006666"/>
                </a:solidFill>
                <a:latin typeface="Menlo" charset="0"/>
                <a:ea typeface="Menlo" charset="0"/>
                <a:cs typeface="Menlo" charset="0"/>
              </a:rPr>
              <a:t>3</a:t>
            </a:r>
            <a:r>
              <a:rPr lang="en-US" altLang="zh-CN" sz="2000" b="1" kern="0" dirty="0">
                <a:solidFill>
                  <a:srgbClr val="666600"/>
                </a:solidFill>
                <a:latin typeface="Menlo" charset="0"/>
                <a:ea typeface="Menlo" charset="0"/>
                <a:cs typeface="Menlo" charset="0"/>
              </a:rPr>
              <a:t>,</a:t>
            </a:r>
            <a:r>
              <a:rPr lang="en-US" altLang="zh-CN" sz="2000" b="1" kern="0" dirty="0">
                <a:solidFill>
                  <a:srgbClr val="313131"/>
                </a:solidFill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altLang="zh-CN" sz="2000" b="1" kern="0" dirty="0">
                <a:solidFill>
                  <a:srgbClr val="006666"/>
                </a:solidFill>
                <a:latin typeface="Menlo" charset="0"/>
                <a:ea typeface="Menlo" charset="0"/>
                <a:cs typeface="Menlo" charset="0"/>
              </a:rPr>
              <a:t>4</a:t>
            </a:r>
            <a:r>
              <a:rPr lang="en-US" altLang="zh-CN" sz="2000" b="1" kern="0" dirty="0">
                <a:solidFill>
                  <a:srgbClr val="666600"/>
                </a:solidFill>
                <a:latin typeface="Menlo" charset="0"/>
                <a:ea typeface="Menlo" charset="0"/>
                <a:cs typeface="Menlo" charset="0"/>
              </a:rPr>
              <a:t>,</a:t>
            </a:r>
            <a:r>
              <a:rPr lang="en-US" altLang="zh-CN" sz="2000" b="1" kern="0" dirty="0">
                <a:solidFill>
                  <a:srgbClr val="313131"/>
                </a:solidFill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altLang="zh-CN" sz="2000" b="1" kern="0" dirty="0">
                <a:solidFill>
                  <a:srgbClr val="006666"/>
                </a:solidFill>
                <a:latin typeface="Menlo" charset="0"/>
                <a:ea typeface="Menlo" charset="0"/>
                <a:cs typeface="Menlo" charset="0"/>
              </a:rPr>
              <a:t>5</a:t>
            </a:r>
            <a:r>
              <a:rPr lang="en-US" altLang="zh-CN" sz="2000" b="1" kern="0" dirty="0" smtClean="0">
                <a:solidFill>
                  <a:srgbClr val="666600"/>
                </a:solidFill>
                <a:latin typeface="Menlo" charset="0"/>
                <a:ea typeface="Menlo" charset="0"/>
                <a:cs typeface="Menlo" charset="0"/>
              </a:rPr>
              <a:t>]</a:t>
            </a:r>
          </a:p>
          <a:p>
            <a:pPr>
              <a:lnSpc>
                <a:spcPts val="1200"/>
              </a:lnSpc>
              <a:spcAft>
                <a:spcPts val="75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zh-CN" altLang="zh-CN" sz="2000" b="1" kern="100" dirty="0">
              <a:latin typeface="Menlo" charset="0"/>
              <a:ea typeface="Menlo" charset="0"/>
              <a:cs typeface="Menlo" charset="0"/>
            </a:endParaRPr>
          </a:p>
          <a:p>
            <a:pPr>
              <a:lnSpc>
                <a:spcPts val="1200"/>
              </a:lnSpc>
              <a:spcAft>
                <a:spcPts val="75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2000" b="1" kern="0" dirty="0">
                <a:solidFill>
                  <a:srgbClr val="313131"/>
                </a:solidFill>
                <a:latin typeface="Menlo" charset="0"/>
                <a:ea typeface="Menlo" charset="0"/>
                <a:cs typeface="Menlo" charset="0"/>
              </a:rPr>
              <a:t>list2 </a:t>
            </a:r>
            <a:r>
              <a:rPr lang="en-US" altLang="zh-CN" sz="2000" b="1" kern="0" dirty="0">
                <a:solidFill>
                  <a:srgbClr val="666600"/>
                </a:solidFill>
                <a:latin typeface="Menlo" charset="0"/>
                <a:ea typeface="Menlo" charset="0"/>
                <a:cs typeface="Menlo" charset="0"/>
              </a:rPr>
              <a:t>=</a:t>
            </a:r>
            <a:r>
              <a:rPr lang="en-US" altLang="zh-CN" sz="2000" b="1" kern="0" dirty="0">
                <a:solidFill>
                  <a:srgbClr val="313131"/>
                </a:solidFill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altLang="zh-CN" sz="2000" b="1" kern="0" dirty="0">
                <a:solidFill>
                  <a:srgbClr val="666600"/>
                </a:solidFill>
                <a:latin typeface="Menlo" charset="0"/>
                <a:ea typeface="Menlo" charset="0"/>
                <a:cs typeface="Menlo" charset="0"/>
              </a:rPr>
              <a:t>[</a:t>
            </a:r>
            <a:r>
              <a:rPr lang="en-US" altLang="zh-CN" sz="2000" b="1" kern="0" dirty="0">
                <a:solidFill>
                  <a:srgbClr val="008800"/>
                </a:solidFill>
                <a:latin typeface="Menlo" charset="0"/>
                <a:ea typeface="Menlo" charset="0"/>
                <a:cs typeface="Menlo" charset="0"/>
              </a:rPr>
              <a:t>'physics'</a:t>
            </a:r>
            <a:r>
              <a:rPr lang="en-US" altLang="zh-CN" sz="2000" b="1" kern="0" dirty="0">
                <a:solidFill>
                  <a:srgbClr val="666600"/>
                </a:solidFill>
                <a:latin typeface="Menlo" charset="0"/>
                <a:ea typeface="Menlo" charset="0"/>
                <a:cs typeface="Menlo" charset="0"/>
              </a:rPr>
              <a:t>,</a:t>
            </a:r>
            <a:r>
              <a:rPr lang="en-US" altLang="zh-CN" sz="2000" b="1" kern="0" dirty="0">
                <a:solidFill>
                  <a:srgbClr val="313131"/>
                </a:solidFill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altLang="zh-CN" sz="2000" b="1" kern="0" dirty="0">
                <a:solidFill>
                  <a:srgbClr val="008800"/>
                </a:solidFill>
                <a:latin typeface="Menlo" charset="0"/>
                <a:ea typeface="Menlo" charset="0"/>
                <a:cs typeface="Menlo" charset="0"/>
              </a:rPr>
              <a:t>'chemistry', 'geography'</a:t>
            </a:r>
            <a:r>
              <a:rPr lang="en-US" altLang="zh-CN" sz="2000" b="1" kern="0" dirty="0">
                <a:solidFill>
                  <a:srgbClr val="666600"/>
                </a:solidFill>
                <a:latin typeface="Menlo" charset="0"/>
                <a:ea typeface="Menlo" charset="0"/>
                <a:cs typeface="Menlo" charset="0"/>
              </a:rPr>
              <a:t>,</a:t>
            </a:r>
            <a:r>
              <a:rPr lang="en-US" altLang="zh-CN" sz="2000" b="1" kern="0" dirty="0">
                <a:solidFill>
                  <a:srgbClr val="313131"/>
                </a:solidFill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altLang="zh-CN" sz="2000" b="1" kern="0" dirty="0">
                <a:solidFill>
                  <a:srgbClr val="008800"/>
                </a:solidFill>
                <a:latin typeface="Menlo" charset="0"/>
                <a:ea typeface="Menlo" charset="0"/>
                <a:cs typeface="Menlo" charset="0"/>
              </a:rPr>
              <a:t>'history'</a:t>
            </a:r>
            <a:r>
              <a:rPr lang="en-US" altLang="zh-CN" sz="2000" b="1" kern="0" dirty="0">
                <a:solidFill>
                  <a:srgbClr val="666600"/>
                </a:solidFill>
                <a:latin typeface="Menlo" charset="0"/>
                <a:ea typeface="Menlo" charset="0"/>
                <a:cs typeface="Menlo" charset="0"/>
              </a:rPr>
              <a:t>]</a:t>
            </a:r>
            <a:endParaRPr lang="zh-CN" altLang="zh-CN" sz="2000" b="1" kern="100" dirty="0">
              <a:latin typeface="Menlo" charset="0"/>
              <a:ea typeface="Menlo" charset="0"/>
              <a:cs typeface="Menlo" charset="0"/>
            </a:endParaRPr>
          </a:p>
          <a:p>
            <a:endParaRPr kumimoji="1" lang="zh-CN" altLang="en-US" sz="2000" b="1" dirty="0">
              <a:latin typeface="Menlo" charset="0"/>
              <a:ea typeface="Menlo" charset="0"/>
              <a:cs typeface="Menlo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Python</a:t>
            </a:r>
            <a:r>
              <a:rPr kumimoji="1" lang="zh-CN" altLang="en-US" dirty="0" smtClean="0"/>
              <a:t> </a:t>
            </a:r>
            <a:r>
              <a:rPr kumimoji="1" lang="en-US" altLang="zh-CN" dirty="0"/>
              <a:t>L</a:t>
            </a:r>
            <a:r>
              <a:rPr kumimoji="1" lang="en-US" altLang="zh-CN" dirty="0" smtClean="0"/>
              <a:t>ist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7772870" cy="1942148"/>
          </a:xfrm>
        </p:spPr>
        <p:txBody>
          <a:bodyPr/>
          <a:lstStyle/>
          <a:p>
            <a:r>
              <a:rPr lang="en-US" altLang="zh-CN" dirty="0"/>
              <a:t>A list is a data structure that holds an ordered collection of items</a:t>
            </a:r>
            <a:r>
              <a:rPr lang="en-US" altLang="zh-CN" dirty="0" smtClean="0"/>
              <a:t>.</a:t>
            </a:r>
          </a:p>
          <a:p>
            <a:r>
              <a:rPr lang="en-US" altLang="zh-CN" dirty="0"/>
              <a:t>The list </a:t>
            </a:r>
            <a:r>
              <a:rPr lang="en-US" altLang="zh-CN" dirty="0" smtClean="0"/>
              <a:t>is </a:t>
            </a:r>
            <a:r>
              <a:rPr lang="en-US" altLang="zh-CN" dirty="0"/>
              <a:t>enclosed in square </a:t>
            </a:r>
            <a:r>
              <a:rPr lang="en-US" altLang="zh-CN" dirty="0" smtClean="0"/>
              <a:t>brackets.</a:t>
            </a:r>
          </a:p>
        </p:txBody>
      </p:sp>
    </p:spTree>
    <p:extLst>
      <p:ext uri="{BB962C8B-B14F-4D97-AF65-F5344CB8AC3E}">
        <p14:creationId xmlns:p14="http://schemas.microsoft.com/office/powerpoint/2010/main" val="20133503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Python</a:t>
            </a:r>
            <a:r>
              <a:rPr kumimoji="1" lang="zh-CN" altLang="en-US" dirty="0"/>
              <a:t> </a:t>
            </a:r>
            <a:r>
              <a:rPr kumimoji="1" lang="en-US" altLang="zh-CN" dirty="0"/>
              <a:t>List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7772870" cy="807031"/>
          </a:xfrm>
        </p:spPr>
        <p:txBody>
          <a:bodyPr/>
          <a:lstStyle/>
          <a:p>
            <a:r>
              <a:rPr kumimoji="1" lang="en-US" altLang="zh-CN" dirty="0" smtClean="0"/>
              <a:t>Items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in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list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need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not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be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the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same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type.</a:t>
            </a:r>
            <a:endParaRPr kumimoji="1"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641975" y="3326522"/>
            <a:ext cx="7859580" cy="183396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ts val="1200"/>
              </a:lnSpc>
              <a:spcAft>
                <a:spcPts val="75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altLang="zh-CN" sz="2000" b="1" kern="0" dirty="0" smtClean="0">
              <a:solidFill>
                <a:srgbClr val="313131"/>
              </a:solidFill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ts val="1200"/>
              </a:lnSpc>
              <a:spcAft>
                <a:spcPts val="75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2000" b="1" kern="0" dirty="0">
                <a:solidFill>
                  <a:srgbClr val="313131"/>
                </a:solidFill>
                <a:latin typeface="Courier" charset="0"/>
                <a:ea typeface="Courier" charset="0"/>
                <a:cs typeface="Courier" charset="0"/>
              </a:rPr>
              <a:t>list3 </a:t>
            </a:r>
            <a:r>
              <a:rPr lang="en-US" altLang="zh-CN" sz="2000" b="1" kern="0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kern="0" dirty="0">
                <a:solidFill>
                  <a:srgbClr val="313131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kern="0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[</a:t>
            </a:r>
            <a:r>
              <a:rPr lang="en-US" altLang="zh-CN" sz="2000" b="1" kern="0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'physics'</a:t>
            </a:r>
            <a:r>
              <a:rPr lang="en-US" altLang="zh-CN" sz="2000" b="1" kern="0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kern="0" dirty="0">
                <a:solidFill>
                  <a:srgbClr val="313131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kern="0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'chemistry'</a:t>
            </a:r>
            <a:r>
              <a:rPr lang="en-US" altLang="zh-CN" sz="2000" b="1" kern="0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kern="0" dirty="0">
                <a:solidFill>
                  <a:srgbClr val="313131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kern="0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1997</a:t>
            </a:r>
            <a:r>
              <a:rPr lang="en-US" altLang="zh-CN" sz="2000" b="1" kern="0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kern="0" dirty="0">
                <a:solidFill>
                  <a:srgbClr val="313131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kern="0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2000</a:t>
            </a:r>
            <a:r>
              <a:rPr lang="en-US" altLang="zh-CN" sz="2000" b="1" kern="0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]</a:t>
            </a:r>
          </a:p>
          <a:p>
            <a:pPr>
              <a:lnSpc>
                <a:spcPts val="1200"/>
              </a:lnSpc>
              <a:spcAft>
                <a:spcPts val="75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zh-CN" altLang="zh-CN" sz="2000" b="1" kern="100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ts val="1200"/>
              </a:lnSpc>
              <a:spcAft>
                <a:spcPts val="75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2000" b="1" kern="0" dirty="0">
                <a:solidFill>
                  <a:srgbClr val="313131"/>
                </a:solidFill>
                <a:latin typeface="Courier" charset="0"/>
                <a:ea typeface="Courier" charset="0"/>
                <a:cs typeface="Courier" charset="0"/>
              </a:rPr>
              <a:t>list4 </a:t>
            </a:r>
            <a:r>
              <a:rPr lang="en-US" altLang="zh-CN" sz="2000" b="1" kern="0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kern="0" dirty="0">
                <a:solidFill>
                  <a:srgbClr val="313131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kern="0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[</a:t>
            </a:r>
            <a:r>
              <a:rPr lang="en-US" altLang="zh-CN" sz="2000" b="1" kern="0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'physics'</a:t>
            </a:r>
            <a:r>
              <a:rPr lang="en-US" altLang="zh-CN" sz="2000" b="1" kern="0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kern="0" dirty="0">
                <a:solidFill>
                  <a:srgbClr val="313131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kern="0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'chemistry'</a:t>
            </a:r>
            <a:r>
              <a:rPr lang="en-US" altLang="zh-CN" sz="2000" b="1" kern="0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kern="0" dirty="0">
                <a:solidFill>
                  <a:srgbClr val="313131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kern="0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1997</a:t>
            </a:r>
            <a:r>
              <a:rPr lang="en-US" altLang="zh-CN" sz="2000" b="1" kern="0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kern="0" dirty="0">
                <a:solidFill>
                  <a:srgbClr val="313131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kern="0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True</a:t>
            </a:r>
            <a:r>
              <a:rPr lang="en-US" altLang="zh-CN" sz="2000" b="1" kern="0" dirty="0" smtClean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]</a:t>
            </a:r>
          </a:p>
          <a:p>
            <a:pPr>
              <a:lnSpc>
                <a:spcPts val="1200"/>
              </a:lnSpc>
              <a:spcAft>
                <a:spcPts val="75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zh-CN" altLang="zh-CN" sz="2000" b="1" kern="100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ts val="1200"/>
              </a:lnSpc>
              <a:spcAft>
                <a:spcPts val="75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2000" b="1" kern="0" dirty="0">
                <a:solidFill>
                  <a:srgbClr val="313131"/>
                </a:solidFill>
                <a:latin typeface="Courier" charset="0"/>
                <a:ea typeface="Courier" charset="0"/>
                <a:cs typeface="Courier" charset="0"/>
              </a:rPr>
              <a:t>list5 </a:t>
            </a:r>
            <a:r>
              <a:rPr lang="en-US" altLang="zh-CN" sz="2000" b="1" kern="0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kern="0" dirty="0">
                <a:solidFill>
                  <a:srgbClr val="313131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kern="0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[</a:t>
            </a:r>
            <a:r>
              <a:rPr lang="en-US" altLang="zh-CN" sz="2000" b="1" kern="0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'physics'</a:t>
            </a:r>
            <a:r>
              <a:rPr lang="en-US" altLang="zh-CN" sz="2000" b="1" kern="0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kern="0" dirty="0">
                <a:solidFill>
                  <a:srgbClr val="313131"/>
                </a:solidFill>
                <a:latin typeface="Courier" charset="0"/>
                <a:ea typeface="Courier" charset="0"/>
                <a:cs typeface="Courier" charset="0"/>
              </a:rPr>
              <a:t> [</a:t>
            </a:r>
            <a:r>
              <a:rPr lang="en-US" altLang="zh-CN" sz="2000" b="1" kern="0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'chemistry', 2000</a:t>
            </a:r>
            <a:r>
              <a:rPr lang="en-US" altLang="zh-CN" sz="2000" b="1" kern="0" dirty="0">
                <a:solidFill>
                  <a:srgbClr val="313131"/>
                </a:solidFill>
                <a:latin typeface="Courier" charset="0"/>
                <a:ea typeface="Courier" charset="0"/>
                <a:cs typeface="Courier" charset="0"/>
              </a:rPr>
              <a:t>]</a:t>
            </a:r>
            <a:r>
              <a:rPr lang="en-US" altLang="zh-CN" sz="2000" b="1" kern="0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kern="0" dirty="0">
                <a:solidFill>
                  <a:srgbClr val="313131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kern="0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1997</a:t>
            </a:r>
            <a:r>
              <a:rPr lang="en-US" altLang="zh-CN" sz="2000" b="1" kern="0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]</a:t>
            </a:r>
          </a:p>
          <a:p>
            <a:pPr>
              <a:lnSpc>
                <a:spcPts val="1200"/>
              </a:lnSpc>
              <a:spcAft>
                <a:spcPts val="75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zh-CN" altLang="zh-CN" sz="2000" b="1" kern="100" dirty="0">
              <a:effectLst/>
              <a:latin typeface="Courier" charset="0"/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0988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Accessing Values in </a:t>
            </a:r>
            <a:r>
              <a:rPr lang="en-US" altLang="zh-CN" dirty="0" smtClean="0"/>
              <a:t>Lists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>
          <a:xfrm>
            <a:off x="685330" y="2367094"/>
            <a:ext cx="7772870" cy="1689900"/>
          </a:xfrm>
        </p:spPr>
        <p:txBody>
          <a:bodyPr/>
          <a:lstStyle/>
          <a:p>
            <a:r>
              <a:rPr lang="en-US" altLang="zh-CN"/>
              <a:t>To access values in lists, use the square brackets for slicing along with the index or indices to obtain value available at that index.</a:t>
            </a:r>
            <a:endParaRPr kumimoji="1"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685330" y="4209393"/>
            <a:ext cx="7859580" cy="206543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ts val="1200"/>
              </a:lnSpc>
              <a:spcAft>
                <a:spcPts val="75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altLang="zh-CN" sz="2000" b="1" kern="0" dirty="0" smtClean="0">
              <a:solidFill>
                <a:srgbClr val="313131"/>
              </a:solidFill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ts val="1200"/>
              </a:lnSpc>
              <a:spcAft>
                <a:spcPts val="75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2000" b="1" kern="0" dirty="0" smtClean="0">
                <a:solidFill>
                  <a:srgbClr val="313131"/>
                </a:solidFill>
                <a:latin typeface="Courier" charset="0"/>
                <a:ea typeface="Courier" charset="0"/>
                <a:cs typeface="Courier" charset="0"/>
              </a:rPr>
              <a:t>list1 </a:t>
            </a:r>
            <a:r>
              <a:rPr lang="en-US" altLang="zh-CN" sz="2000" b="1" kern="0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kern="0" dirty="0" smtClean="0">
                <a:solidFill>
                  <a:srgbClr val="313131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kern="0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[</a:t>
            </a:r>
            <a:r>
              <a:rPr lang="en-US" altLang="zh-CN" sz="2000" b="1" kern="0" dirty="0" smtClean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'physics'</a:t>
            </a:r>
            <a:r>
              <a:rPr lang="en-US" altLang="zh-CN" sz="2000" b="1" kern="0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kern="0" dirty="0" smtClean="0">
                <a:solidFill>
                  <a:srgbClr val="313131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kern="0" dirty="0" smtClean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'chemistry'</a:t>
            </a:r>
            <a:r>
              <a:rPr lang="en-US" altLang="zh-CN" sz="2000" b="1" kern="0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kern="0" dirty="0" smtClean="0">
                <a:solidFill>
                  <a:srgbClr val="313131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kern="0" dirty="0" smtClean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1997</a:t>
            </a:r>
            <a:r>
              <a:rPr lang="en-US" altLang="zh-CN" sz="2000" b="1" kern="0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kern="0" dirty="0" smtClean="0">
                <a:solidFill>
                  <a:srgbClr val="313131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kern="0" dirty="0" smtClean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2000</a:t>
            </a:r>
            <a:r>
              <a:rPr lang="en-US" altLang="zh-CN" sz="2000" b="1" kern="0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]</a:t>
            </a:r>
          </a:p>
          <a:p>
            <a:pPr>
              <a:lnSpc>
                <a:spcPts val="1200"/>
              </a:lnSpc>
              <a:spcAft>
                <a:spcPts val="75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altLang="zh-CN" sz="2000" b="1" kern="0" dirty="0" smtClean="0">
              <a:solidFill>
                <a:srgbClr val="666600"/>
              </a:solidFill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ts val="1200"/>
              </a:lnSpc>
              <a:spcAft>
                <a:spcPts val="75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2000" b="1" kern="0" dirty="0" smtClean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print</a:t>
            </a:r>
            <a:r>
              <a:rPr lang="en-US" altLang="zh-CN" sz="2000" b="1" kern="0" dirty="0" smtClean="0">
                <a:solidFill>
                  <a:srgbClr val="313131"/>
                </a:solidFill>
                <a:latin typeface="Courier" charset="0"/>
                <a:ea typeface="Courier" charset="0"/>
                <a:cs typeface="Courier" charset="0"/>
              </a:rPr>
              <a:t> (</a:t>
            </a:r>
            <a:r>
              <a:rPr lang="en-US" altLang="zh-CN" sz="2000" b="1" kern="0" dirty="0" smtClean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'list1[0]: '</a:t>
            </a:r>
            <a:r>
              <a:rPr lang="en-US" altLang="zh-CN" sz="2000" b="1" kern="0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kern="0" dirty="0" smtClean="0">
                <a:solidFill>
                  <a:srgbClr val="313131"/>
                </a:solidFill>
                <a:latin typeface="Courier" charset="0"/>
                <a:ea typeface="Courier" charset="0"/>
                <a:cs typeface="Courier" charset="0"/>
              </a:rPr>
              <a:t> list1</a:t>
            </a:r>
            <a:r>
              <a:rPr lang="en-US" altLang="zh-CN" sz="2000" b="1" kern="0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[</a:t>
            </a:r>
            <a:r>
              <a:rPr lang="en-US" altLang="zh-CN" sz="2000" b="1" kern="0" dirty="0" smtClean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0</a:t>
            </a:r>
            <a:r>
              <a:rPr lang="en-US" altLang="zh-CN" sz="2000" b="1" kern="0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]</a:t>
            </a:r>
            <a:r>
              <a:rPr lang="en-US" altLang="zh-CN" sz="2000" b="1" kern="0" dirty="0" smtClean="0">
                <a:solidFill>
                  <a:srgbClr val="313131"/>
                </a:solidFill>
                <a:latin typeface="Courier" charset="0"/>
                <a:ea typeface="Courier" charset="0"/>
                <a:cs typeface="Courier" charset="0"/>
              </a:rPr>
              <a:t>)</a:t>
            </a:r>
          </a:p>
          <a:p>
            <a:pPr>
              <a:lnSpc>
                <a:spcPts val="1200"/>
              </a:lnSpc>
              <a:spcAft>
                <a:spcPts val="75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altLang="zh-CN" sz="2000" b="1" kern="0" dirty="0" smtClean="0">
              <a:solidFill>
                <a:srgbClr val="666600"/>
              </a:solidFill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ts val="1200"/>
              </a:lnSpc>
              <a:spcAft>
                <a:spcPts val="75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2000" b="1" kern="0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#</a:t>
            </a:r>
            <a:r>
              <a:rPr lang="zh-CN" altLang="en-US" sz="2000" b="1" kern="0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 输出结果为：</a:t>
            </a:r>
            <a:endParaRPr lang="en-US" altLang="zh-CN" sz="2000" b="1" kern="0" dirty="0" smtClean="0">
              <a:solidFill>
                <a:srgbClr val="666600"/>
              </a:solidFill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ts val="1200"/>
              </a:lnSpc>
              <a:spcAft>
                <a:spcPts val="75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2000" b="1" kern="0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list1[0]:</a:t>
            </a:r>
            <a:r>
              <a:rPr lang="zh-CN" altLang="en-US" sz="2000" b="1" kern="0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kern="0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physics</a:t>
            </a:r>
            <a:endParaRPr lang="zh-CN" altLang="zh-CN" sz="2000" b="1" kern="100" dirty="0" smtClean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ts val="1200"/>
              </a:lnSpc>
              <a:spcAft>
                <a:spcPts val="75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zh-CN" altLang="zh-CN" sz="2000" b="1" kern="100" dirty="0">
              <a:latin typeface="Courier" charset="0"/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3185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Accessing Values in Lists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>
          <a:xfrm>
            <a:off x="685330" y="2367094"/>
            <a:ext cx="7772870" cy="1637348"/>
          </a:xfrm>
        </p:spPr>
        <p:txBody>
          <a:bodyPr/>
          <a:lstStyle/>
          <a:p>
            <a:r>
              <a:rPr lang="en-US" altLang="zh-CN" dirty="0"/>
              <a:t>Each element of a </a:t>
            </a:r>
            <a:r>
              <a:rPr lang="en-US" altLang="zh-CN" dirty="0" smtClean="0"/>
              <a:t>list</a:t>
            </a:r>
            <a:r>
              <a:rPr lang="zh-CN" altLang="en-US" dirty="0" smtClean="0"/>
              <a:t> </a:t>
            </a:r>
            <a:r>
              <a:rPr lang="en-US" altLang="zh-CN" dirty="0" smtClean="0"/>
              <a:t>is </a:t>
            </a:r>
            <a:r>
              <a:rPr lang="en-US" altLang="zh-CN" dirty="0"/>
              <a:t>assigned a number - </a:t>
            </a:r>
            <a:r>
              <a:rPr lang="en-US" altLang="zh-CN" dirty="0" smtClean="0"/>
              <a:t>its index</a:t>
            </a:r>
            <a:r>
              <a:rPr lang="en-US" altLang="zh-CN" dirty="0"/>
              <a:t>. The first index is zero, the second index is one, and so forth</a:t>
            </a:r>
            <a:r>
              <a:rPr lang="en-US" altLang="zh-CN" dirty="0" smtClean="0"/>
              <a:t>.</a:t>
            </a:r>
            <a:endParaRPr lang="en-US" altLang="zh-CN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6119620"/>
              </p:ext>
            </p:extLst>
          </p:nvPr>
        </p:nvGraphicFramePr>
        <p:xfrm>
          <a:off x="945929" y="4156839"/>
          <a:ext cx="7512270" cy="107731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02454"/>
                <a:gridCol w="1502454"/>
                <a:gridCol w="1502454"/>
                <a:gridCol w="1502454"/>
                <a:gridCol w="1502454"/>
              </a:tblGrid>
              <a:tr h="538656">
                <a:tc>
                  <a:txBody>
                    <a:bodyPr/>
                    <a:lstStyle/>
                    <a:p>
                      <a:pPr algn="r"/>
                      <a:r>
                        <a:rPr lang="en-US" altLang="zh-CN" sz="2000" b="1" i="1" dirty="0" smtClean="0"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List1:</a:t>
                      </a:r>
                      <a:endParaRPr lang="zh-CN" altLang="en-US" sz="2000" b="1" i="1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1" dirty="0" smtClean="0"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’physics’</a:t>
                      </a:r>
                      <a:endParaRPr lang="zh-CN" altLang="en-US" sz="2000" b="1" i="1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1" dirty="0" smtClean="0"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‘chemistry’</a:t>
                      </a:r>
                      <a:endParaRPr lang="zh-CN" altLang="en-US" sz="2000" b="1" i="1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1" dirty="0" smtClean="0"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1997</a:t>
                      </a:r>
                      <a:endParaRPr lang="zh-CN" altLang="en-US" sz="2000" b="1" i="1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1" dirty="0" smtClean="0"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2000</a:t>
                      </a:r>
                      <a:endParaRPr lang="zh-CN" altLang="en-US" sz="2000" b="1" i="1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8656">
                <a:tc>
                  <a:txBody>
                    <a:bodyPr/>
                    <a:lstStyle/>
                    <a:p>
                      <a:pPr algn="r"/>
                      <a:r>
                        <a:rPr lang="en-US" altLang="zh-CN" sz="2000" b="1" i="1" dirty="0" smtClean="0"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Index:</a:t>
                      </a:r>
                      <a:endParaRPr lang="zh-CN" altLang="en-US" sz="2000" b="1" i="1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1" dirty="0" smtClean="0"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0</a:t>
                      </a:r>
                      <a:endParaRPr lang="zh-CN" altLang="en-US" sz="2000" b="1" i="1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1" dirty="0" smtClean="0"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1</a:t>
                      </a:r>
                      <a:endParaRPr lang="zh-CN" altLang="en-US" sz="2000" b="1" i="1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1" dirty="0" smtClean="0"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2</a:t>
                      </a:r>
                      <a:endParaRPr lang="zh-CN" altLang="en-US" sz="2000" b="1" i="1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1" dirty="0" smtClean="0"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3</a:t>
                      </a:r>
                      <a:endParaRPr lang="zh-CN" altLang="en-US" sz="2000" b="1" i="1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81803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Accessing Values in Lists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>
          <a:xfrm>
            <a:off x="685330" y="3560737"/>
            <a:ext cx="7772870" cy="2798022"/>
          </a:xfrm>
        </p:spPr>
        <p:txBody>
          <a:bodyPr/>
          <a:lstStyle/>
          <a:p>
            <a:r>
              <a:rPr kumimoji="1" lang="en-US" altLang="zh-CN" dirty="0"/>
              <a:t>l</a:t>
            </a:r>
            <a:r>
              <a:rPr kumimoji="1" lang="en-US" altLang="zh-CN" dirty="0" smtClean="0"/>
              <a:t>ist[0]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=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‘physics’</a:t>
            </a:r>
          </a:p>
          <a:p>
            <a:r>
              <a:rPr kumimoji="1" lang="en-US" altLang="zh-CN" dirty="0"/>
              <a:t>l</a:t>
            </a:r>
            <a:r>
              <a:rPr kumimoji="1" lang="en-US" altLang="zh-CN" dirty="0" smtClean="0"/>
              <a:t>ist[1]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=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‘chemistry’</a:t>
            </a:r>
          </a:p>
          <a:p>
            <a:r>
              <a:rPr kumimoji="1" lang="en-US" altLang="zh-CN" dirty="0"/>
              <a:t>l</a:t>
            </a:r>
            <a:r>
              <a:rPr kumimoji="1" lang="en-US" altLang="zh-CN" dirty="0" smtClean="0"/>
              <a:t>ist[2]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=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1997</a:t>
            </a:r>
          </a:p>
          <a:p>
            <a:r>
              <a:rPr kumimoji="1" lang="en-US" altLang="zh-CN" dirty="0"/>
              <a:t>l</a:t>
            </a:r>
            <a:r>
              <a:rPr kumimoji="1" lang="en-US" altLang="zh-CN" dirty="0" smtClean="0"/>
              <a:t>ist[3]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=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2000</a:t>
            </a:r>
            <a:endParaRPr kumimoji="1" lang="zh-CN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717296"/>
              </p:ext>
            </p:extLst>
          </p:nvPr>
        </p:nvGraphicFramePr>
        <p:xfrm>
          <a:off x="685330" y="2338549"/>
          <a:ext cx="7512270" cy="107731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02454"/>
                <a:gridCol w="1502454"/>
                <a:gridCol w="1502454"/>
                <a:gridCol w="1502454"/>
                <a:gridCol w="1502454"/>
              </a:tblGrid>
              <a:tr h="538656">
                <a:tc>
                  <a:txBody>
                    <a:bodyPr/>
                    <a:lstStyle/>
                    <a:p>
                      <a:pPr algn="r"/>
                      <a:r>
                        <a:rPr lang="en-US" altLang="zh-CN" sz="2000" b="1" i="1" dirty="0" smtClean="0"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List1:</a:t>
                      </a:r>
                      <a:endParaRPr lang="zh-CN" altLang="en-US" sz="2000" b="1" i="1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1" dirty="0" smtClean="0"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’physics’</a:t>
                      </a:r>
                      <a:endParaRPr lang="zh-CN" altLang="en-US" sz="2000" b="1" i="1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1" dirty="0" smtClean="0"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‘chemistry’</a:t>
                      </a:r>
                      <a:endParaRPr lang="zh-CN" altLang="en-US" sz="2000" b="1" i="1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1" dirty="0" smtClean="0"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1997</a:t>
                      </a:r>
                      <a:endParaRPr lang="zh-CN" altLang="en-US" sz="2000" b="1" i="1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1" dirty="0" smtClean="0"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2000</a:t>
                      </a:r>
                      <a:endParaRPr lang="zh-CN" altLang="en-US" sz="2000" b="1" i="1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8656">
                <a:tc>
                  <a:txBody>
                    <a:bodyPr/>
                    <a:lstStyle/>
                    <a:p>
                      <a:pPr algn="r"/>
                      <a:r>
                        <a:rPr lang="en-US" altLang="zh-CN" sz="2000" b="1" i="1" dirty="0" smtClean="0"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Index:</a:t>
                      </a:r>
                      <a:endParaRPr lang="zh-CN" altLang="en-US" sz="2000" b="1" i="1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1" dirty="0" smtClean="0"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0</a:t>
                      </a:r>
                      <a:endParaRPr lang="zh-CN" altLang="en-US" sz="2000" b="1" i="1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1" dirty="0" smtClean="0"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1</a:t>
                      </a:r>
                      <a:endParaRPr lang="zh-CN" altLang="en-US" sz="2000" b="1" i="1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1" dirty="0" smtClean="0"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2</a:t>
                      </a:r>
                      <a:endParaRPr lang="zh-CN" altLang="en-US" sz="2000" b="1" i="1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1" dirty="0" smtClean="0"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3</a:t>
                      </a:r>
                      <a:endParaRPr lang="zh-CN" altLang="en-US" sz="2000" b="1" i="1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35309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Accessing Values in Lists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>
          <a:xfrm>
            <a:off x="685330" y="3394841"/>
            <a:ext cx="7772870" cy="2396359"/>
          </a:xfrm>
        </p:spPr>
        <p:txBody>
          <a:bodyPr/>
          <a:lstStyle/>
          <a:p>
            <a:r>
              <a:rPr kumimoji="1" lang="en-US" altLang="zh-CN" dirty="0" smtClean="0"/>
              <a:t>How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to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get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‘chemistry’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in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list5?</a:t>
            </a:r>
            <a:endParaRPr kumimoji="1"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641975" y="2517333"/>
            <a:ext cx="7859580" cy="81676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ts val="1200"/>
              </a:lnSpc>
              <a:spcAft>
                <a:spcPts val="75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zh-CN" altLang="zh-CN" sz="2000" b="1" kern="100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ts val="1200"/>
              </a:lnSpc>
              <a:spcAft>
                <a:spcPts val="75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2000" b="1" kern="0" dirty="0">
                <a:solidFill>
                  <a:srgbClr val="313131"/>
                </a:solidFill>
                <a:latin typeface="Courier" charset="0"/>
                <a:ea typeface="Courier" charset="0"/>
                <a:cs typeface="Courier" charset="0"/>
              </a:rPr>
              <a:t>list5 </a:t>
            </a:r>
            <a:r>
              <a:rPr lang="en-US" altLang="zh-CN" sz="2000" b="1" kern="0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kern="0" dirty="0">
                <a:solidFill>
                  <a:srgbClr val="313131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kern="0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[</a:t>
            </a:r>
            <a:r>
              <a:rPr lang="en-US" altLang="zh-CN" sz="2000" b="1" kern="0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'physics'</a:t>
            </a:r>
            <a:r>
              <a:rPr lang="en-US" altLang="zh-CN" sz="2000" b="1" kern="0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kern="0" dirty="0">
                <a:solidFill>
                  <a:srgbClr val="313131"/>
                </a:solidFill>
                <a:latin typeface="Courier" charset="0"/>
                <a:ea typeface="Courier" charset="0"/>
                <a:cs typeface="Courier" charset="0"/>
              </a:rPr>
              <a:t> [</a:t>
            </a:r>
            <a:r>
              <a:rPr lang="en-US" altLang="zh-CN" sz="2000" b="1" kern="0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'chemistry', 2000</a:t>
            </a:r>
            <a:r>
              <a:rPr lang="en-US" altLang="zh-CN" sz="2000" b="1" kern="0" dirty="0">
                <a:solidFill>
                  <a:srgbClr val="313131"/>
                </a:solidFill>
                <a:latin typeface="Courier" charset="0"/>
                <a:ea typeface="Courier" charset="0"/>
                <a:cs typeface="Courier" charset="0"/>
              </a:rPr>
              <a:t>]</a:t>
            </a:r>
            <a:r>
              <a:rPr lang="en-US" altLang="zh-CN" sz="2000" b="1" kern="0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kern="0" dirty="0">
                <a:solidFill>
                  <a:srgbClr val="313131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kern="0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1997</a:t>
            </a:r>
            <a:r>
              <a:rPr lang="en-US" altLang="zh-CN" sz="2000" b="1" kern="0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]</a:t>
            </a:r>
          </a:p>
          <a:p>
            <a:pPr>
              <a:lnSpc>
                <a:spcPts val="1200"/>
              </a:lnSpc>
              <a:spcAft>
                <a:spcPts val="75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zh-CN" altLang="zh-CN" sz="2000" b="1" kern="100" dirty="0">
              <a:effectLst/>
              <a:latin typeface="Courier" charset="0"/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0142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Accessing Values in Lists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>
          <a:xfrm>
            <a:off x="685330" y="3860673"/>
            <a:ext cx="7772870" cy="1930528"/>
          </a:xfrm>
        </p:spPr>
        <p:txBody>
          <a:bodyPr/>
          <a:lstStyle/>
          <a:p>
            <a:r>
              <a:rPr kumimoji="1" lang="en-US" altLang="zh-CN" dirty="0" smtClean="0"/>
              <a:t>What’s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we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get?</a:t>
            </a:r>
            <a:endParaRPr kumimoji="1"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685330" y="2401612"/>
            <a:ext cx="7859580" cy="132100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ts val="1200"/>
              </a:lnSpc>
              <a:spcAft>
                <a:spcPts val="75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altLang="zh-CN" sz="2000" b="1" kern="0" dirty="0" smtClean="0">
              <a:solidFill>
                <a:srgbClr val="313131"/>
              </a:solidFill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ts val="1200"/>
              </a:lnSpc>
              <a:spcAft>
                <a:spcPts val="75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2000" b="1" kern="0" dirty="0">
                <a:solidFill>
                  <a:srgbClr val="313131"/>
                </a:solidFill>
                <a:latin typeface="Courier" charset="0"/>
                <a:ea typeface="Courier" charset="0"/>
                <a:cs typeface="Courier" charset="0"/>
              </a:rPr>
              <a:t>list2 </a:t>
            </a:r>
            <a:r>
              <a:rPr lang="en-US" altLang="zh-CN" sz="2000" b="1" kern="0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kern="0" dirty="0">
                <a:solidFill>
                  <a:srgbClr val="313131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kern="0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[</a:t>
            </a:r>
            <a:r>
              <a:rPr lang="en-US" altLang="zh-CN" sz="2000" b="1" kern="0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1</a:t>
            </a:r>
            <a:r>
              <a:rPr lang="en-US" altLang="zh-CN" sz="2000" b="1" kern="0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kern="0" dirty="0">
                <a:solidFill>
                  <a:srgbClr val="313131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kern="0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2</a:t>
            </a:r>
            <a:r>
              <a:rPr lang="en-US" altLang="zh-CN" sz="2000" b="1" kern="0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kern="0" dirty="0">
                <a:solidFill>
                  <a:srgbClr val="313131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kern="0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3</a:t>
            </a:r>
            <a:r>
              <a:rPr lang="en-US" altLang="zh-CN" sz="2000" b="1" kern="0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kern="0" dirty="0">
                <a:solidFill>
                  <a:srgbClr val="313131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kern="0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4</a:t>
            </a:r>
            <a:r>
              <a:rPr lang="en-US" altLang="zh-CN" sz="2000" b="1" kern="0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kern="0" dirty="0">
                <a:solidFill>
                  <a:srgbClr val="313131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kern="0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5</a:t>
            </a:r>
            <a:r>
              <a:rPr lang="en-US" altLang="zh-CN" sz="2000" b="1" kern="0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kern="0" dirty="0">
                <a:solidFill>
                  <a:srgbClr val="313131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kern="0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6</a:t>
            </a:r>
            <a:r>
              <a:rPr lang="en-US" altLang="zh-CN" sz="2000" b="1" kern="0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kern="0" dirty="0">
                <a:solidFill>
                  <a:srgbClr val="313131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kern="0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7</a:t>
            </a:r>
            <a:r>
              <a:rPr lang="en-US" altLang="zh-CN" sz="2000" b="1" kern="0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]</a:t>
            </a:r>
            <a:endParaRPr lang="zh-CN" altLang="zh-CN" sz="2000" b="1" kern="100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ts val="1200"/>
              </a:lnSpc>
              <a:spcAft>
                <a:spcPts val="75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2000" b="1" kern="0" dirty="0">
                <a:solidFill>
                  <a:srgbClr val="313131"/>
                </a:solidFill>
                <a:latin typeface="Courier" charset="0"/>
                <a:ea typeface="Courier" charset="0"/>
                <a:cs typeface="Courier" charset="0"/>
              </a:rPr>
              <a:t> </a:t>
            </a:r>
            <a:endParaRPr lang="zh-CN" altLang="zh-CN" sz="2000" b="1" kern="100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ts val="1200"/>
              </a:lnSpc>
              <a:spcAft>
                <a:spcPts val="75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2000" b="1" kern="0" dirty="0" smtClean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print</a:t>
            </a:r>
            <a:r>
              <a:rPr lang="en-US" altLang="zh-CN" sz="2000" b="1" kern="0" dirty="0" smtClean="0">
                <a:solidFill>
                  <a:srgbClr val="313131"/>
                </a:solidFill>
                <a:latin typeface="Courier" charset="0"/>
                <a:ea typeface="Courier" charset="0"/>
                <a:cs typeface="Courier" charset="0"/>
              </a:rPr>
              <a:t> (</a:t>
            </a:r>
            <a:r>
              <a:rPr lang="en-US" altLang="zh-CN" sz="2000" b="1" kern="0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'list2[1:5]: '</a:t>
            </a:r>
            <a:r>
              <a:rPr lang="en-US" altLang="zh-CN" sz="2000" b="1" kern="0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kern="0" dirty="0" smtClean="0">
                <a:solidFill>
                  <a:srgbClr val="313131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kern="0" dirty="0">
                <a:solidFill>
                  <a:srgbClr val="313131"/>
                </a:solidFill>
                <a:latin typeface="Courier" charset="0"/>
                <a:ea typeface="Courier" charset="0"/>
                <a:cs typeface="Courier" charset="0"/>
              </a:rPr>
              <a:t>list2</a:t>
            </a:r>
            <a:r>
              <a:rPr lang="en-US" altLang="zh-CN" sz="2000" b="1" kern="0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[</a:t>
            </a:r>
            <a:r>
              <a:rPr lang="en-US" altLang="zh-CN" sz="2000" b="1" kern="0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1</a:t>
            </a:r>
            <a:r>
              <a:rPr lang="en-US" altLang="zh-CN" sz="2000" b="1" kern="0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:</a:t>
            </a:r>
            <a:r>
              <a:rPr lang="en-US" altLang="zh-CN" sz="2000" b="1" kern="0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5</a:t>
            </a:r>
            <a:r>
              <a:rPr lang="en-US" altLang="zh-CN" sz="2000" b="1" kern="0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])</a:t>
            </a:r>
            <a:endParaRPr lang="zh-CN" altLang="zh-CN" sz="2000" b="1" kern="100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ts val="1200"/>
              </a:lnSpc>
              <a:spcAft>
                <a:spcPts val="75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zh-CN" altLang="zh-CN" sz="2000" b="1" kern="100" dirty="0">
              <a:effectLst/>
              <a:latin typeface="Courier" charset="0"/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86275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Accessing Values in Lists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>
          <a:xfrm>
            <a:off x="685330" y="4340772"/>
            <a:ext cx="7772870" cy="1450428"/>
          </a:xfrm>
        </p:spPr>
        <p:txBody>
          <a:bodyPr/>
          <a:lstStyle/>
          <a:p>
            <a:r>
              <a:rPr kumimoji="1" lang="en-US" altLang="zh-CN" dirty="0"/>
              <a:t>l</a:t>
            </a:r>
            <a:r>
              <a:rPr kumimoji="1" lang="en-US" altLang="zh-CN" dirty="0" smtClean="0"/>
              <a:t>ist2[1:5]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=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[2,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3,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4,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5]</a:t>
            </a:r>
            <a:endParaRPr kumimoji="1"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847964"/>
              </p:ext>
            </p:extLst>
          </p:nvPr>
        </p:nvGraphicFramePr>
        <p:xfrm>
          <a:off x="685330" y="2338549"/>
          <a:ext cx="7512264" cy="107731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39033"/>
                <a:gridCol w="939033"/>
                <a:gridCol w="939033"/>
                <a:gridCol w="939033"/>
                <a:gridCol w="939033"/>
                <a:gridCol w="939033"/>
                <a:gridCol w="939033"/>
                <a:gridCol w="939033"/>
              </a:tblGrid>
              <a:tr h="538656">
                <a:tc>
                  <a:txBody>
                    <a:bodyPr/>
                    <a:lstStyle/>
                    <a:p>
                      <a:pPr algn="r"/>
                      <a:r>
                        <a:rPr lang="en-US" altLang="zh-CN" sz="2000" b="1" i="1" dirty="0" smtClean="0"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List2:</a:t>
                      </a:r>
                      <a:endParaRPr lang="zh-CN" altLang="en-US" sz="2000" b="1" i="1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1" dirty="0" smtClean="0"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1</a:t>
                      </a:r>
                      <a:endParaRPr lang="zh-CN" altLang="en-US" sz="2000" b="1" i="1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1" dirty="0" smtClean="0"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2</a:t>
                      </a:r>
                      <a:endParaRPr lang="zh-CN" altLang="en-US" sz="2000" b="1" i="1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1" dirty="0" smtClean="0"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3</a:t>
                      </a:r>
                      <a:endParaRPr lang="zh-CN" altLang="en-US" sz="2000" b="1" i="1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1" dirty="0" smtClean="0"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4</a:t>
                      </a:r>
                      <a:endParaRPr lang="zh-CN" altLang="en-US" sz="2000" b="1" i="1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1" dirty="0" smtClean="0"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5</a:t>
                      </a:r>
                      <a:endParaRPr lang="zh-CN" altLang="en-US" sz="2000" b="1" i="1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1" dirty="0" smtClean="0"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6</a:t>
                      </a:r>
                      <a:endParaRPr lang="zh-CN" altLang="en-US" sz="2000" b="1" i="1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1" dirty="0" smtClean="0"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7</a:t>
                      </a:r>
                      <a:endParaRPr lang="zh-CN" altLang="en-US" sz="2000" b="1" i="1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8656">
                <a:tc>
                  <a:txBody>
                    <a:bodyPr/>
                    <a:lstStyle/>
                    <a:p>
                      <a:pPr algn="r"/>
                      <a:r>
                        <a:rPr lang="en-US" altLang="zh-CN" sz="2000" b="1" i="1" dirty="0" smtClean="0"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Index:</a:t>
                      </a:r>
                      <a:endParaRPr lang="zh-CN" altLang="en-US" sz="2000" b="1" i="1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1" dirty="0" smtClean="0"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0</a:t>
                      </a:r>
                      <a:endParaRPr lang="zh-CN" altLang="en-US" sz="2000" b="1" i="1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1" dirty="0" smtClean="0"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1</a:t>
                      </a:r>
                      <a:endParaRPr lang="zh-CN" altLang="en-US" sz="2000" b="1" i="1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1" dirty="0" smtClean="0"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2</a:t>
                      </a:r>
                      <a:endParaRPr lang="zh-CN" altLang="en-US" sz="2000" b="1" i="1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1" dirty="0" smtClean="0"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3</a:t>
                      </a:r>
                      <a:endParaRPr lang="zh-CN" altLang="en-US" sz="2000" b="1" i="1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1" dirty="0" smtClean="0"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4</a:t>
                      </a:r>
                      <a:endParaRPr lang="zh-CN" altLang="en-US" sz="2000" b="1" i="1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1" dirty="0" smtClean="0"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5</a:t>
                      </a:r>
                      <a:endParaRPr lang="zh-CN" altLang="en-US" sz="2000" b="1" i="1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1" dirty="0" smtClean="0"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6</a:t>
                      </a:r>
                      <a:endParaRPr lang="zh-CN" altLang="en-US" sz="2000" b="1" i="1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弧 15"/>
          <p:cNvSpPr/>
          <p:nvPr/>
        </p:nvSpPr>
        <p:spPr>
          <a:xfrm rot="5400000">
            <a:off x="3776261" y="1915930"/>
            <a:ext cx="1313794" cy="2926290"/>
          </a:xfrm>
          <a:prstGeom prst="arc">
            <a:avLst>
              <a:gd name="adj1" fmla="val 16301369"/>
              <a:gd name="adj2" fmla="val 5376217"/>
            </a:avLst>
          </a:prstGeom>
          <a:ln w="28575"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cxnSp>
        <p:nvCxnSpPr>
          <p:cNvPr id="18" name="直线箭头连接符 17"/>
          <p:cNvCxnSpPr/>
          <p:nvPr/>
        </p:nvCxnSpPr>
        <p:spPr>
          <a:xfrm flipV="1">
            <a:off x="2917459" y="3405351"/>
            <a:ext cx="174" cy="73085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9" name="直线箭头连接符 18"/>
          <p:cNvCxnSpPr/>
          <p:nvPr/>
        </p:nvCxnSpPr>
        <p:spPr>
          <a:xfrm flipV="1">
            <a:off x="6810531" y="3413428"/>
            <a:ext cx="174" cy="73085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68560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Updating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List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/>
              <a:t>You can update single or multiple elements of lists by giving the slice on the left-hand side of the assignment operator</a:t>
            </a:r>
            <a:r>
              <a:rPr lang="zh-CN" altLang="zh-CN" dirty="0"/>
              <a:t> 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534803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Updating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List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>
          <a:xfrm>
            <a:off x="685330" y="5213131"/>
            <a:ext cx="7772870" cy="578069"/>
          </a:xfrm>
        </p:spPr>
        <p:txBody>
          <a:bodyPr/>
          <a:lstStyle/>
          <a:p>
            <a:endParaRPr kumimoji="1"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685330" y="2401612"/>
            <a:ext cx="7859580" cy="362932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ts val="1200"/>
              </a:lnSpc>
              <a:spcAft>
                <a:spcPts val="75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altLang="zh-CN" sz="2000" b="1" kern="0" dirty="0" smtClean="0">
              <a:solidFill>
                <a:srgbClr val="313131"/>
              </a:solidFill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ts val="1200"/>
              </a:lnSpc>
              <a:spcAft>
                <a:spcPts val="75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2000" b="1" kern="0" dirty="0">
                <a:solidFill>
                  <a:srgbClr val="313131"/>
                </a:solidFill>
                <a:latin typeface="Courier" charset="0"/>
                <a:ea typeface="Courier" charset="0"/>
                <a:cs typeface="Courier" charset="0"/>
              </a:rPr>
              <a:t>list1 </a:t>
            </a:r>
            <a:r>
              <a:rPr lang="en-US" altLang="zh-CN" sz="2000" b="1" kern="0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kern="0" dirty="0">
                <a:solidFill>
                  <a:srgbClr val="313131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kern="0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[</a:t>
            </a:r>
            <a:r>
              <a:rPr lang="en-US" altLang="zh-CN" sz="2000" b="1" kern="0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'physics'</a:t>
            </a:r>
            <a:r>
              <a:rPr lang="en-US" altLang="zh-CN" sz="2000" b="1" kern="0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kern="0" dirty="0">
                <a:solidFill>
                  <a:srgbClr val="313131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kern="0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'chemistry'</a:t>
            </a:r>
            <a:r>
              <a:rPr lang="en-US" altLang="zh-CN" sz="2000" b="1" kern="0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kern="0" dirty="0">
                <a:solidFill>
                  <a:srgbClr val="313131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kern="0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1997</a:t>
            </a:r>
            <a:r>
              <a:rPr lang="en-US" altLang="zh-CN" sz="2000" b="1" kern="0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kern="0" dirty="0">
                <a:solidFill>
                  <a:srgbClr val="313131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kern="0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2000</a:t>
            </a:r>
            <a:r>
              <a:rPr lang="en-US" altLang="zh-CN" sz="2000" b="1" kern="0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]</a:t>
            </a:r>
            <a:endParaRPr lang="zh-CN" altLang="zh-CN" sz="2000" b="1" kern="100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ts val="1200"/>
              </a:lnSpc>
              <a:spcAft>
                <a:spcPts val="75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2000" b="1" kern="0" dirty="0">
                <a:solidFill>
                  <a:srgbClr val="313131"/>
                </a:solidFill>
                <a:latin typeface="Courier" charset="0"/>
                <a:ea typeface="Courier" charset="0"/>
                <a:cs typeface="Courier" charset="0"/>
              </a:rPr>
              <a:t> </a:t>
            </a:r>
            <a:endParaRPr lang="zh-CN" altLang="zh-CN" sz="2000" b="1" kern="100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ts val="1200"/>
              </a:lnSpc>
              <a:spcAft>
                <a:spcPts val="75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2000" b="1" kern="0" dirty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print</a:t>
            </a:r>
            <a:r>
              <a:rPr lang="en-US" altLang="zh-CN" sz="2000" b="1" kern="0" dirty="0">
                <a:solidFill>
                  <a:srgbClr val="313131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kern="0" dirty="0" smtClean="0">
                <a:solidFill>
                  <a:srgbClr val="313131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kern="0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'Value available at index 2: '</a:t>
            </a:r>
            <a:r>
              <a:rPr lang="en-US" altLang="zh-CN" sz="2000" b="1" kern="0" dirty="0" smtClean="0">
                <a:solidFill>
                  <a:srgbClr val="313131"/>
                </a:solidFill>
                <a:latin typeface="Courier" charset="0"/>
                <a:ea typeface="Courier" charset="0"/>
                <a:cs typeface="Courier" charset="0"/>
              </a:rPr>
              <a:t>)</a:t>
            </a:r>
            <a:endParaRPr lang="en-US" altLang="zh-CN" sz="2000" b="1" kern="0" dirty="0">
              <a:solidFill>
                <a:srgbClr val="313131"/>
              </a:solidFill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ts val="1200"/>
              </a:lnSpc>
              <a:spcAft>
                <a:spcPts val="75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zh-CN" altLang="zh-CN" sz="2000" b="1" kern="100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ts val="1200"/>
              </a:lnSpc>
              <a:spcAft>
                <a:spcPts val="75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2000" b="1" kern="0" dirty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print</a:t>
            </a:r>
            <a:r>
              <a:rPr lang="en-US" altLang="zh-CN" sz="2000" b="1" kern="0" dirty="0">
                <a:solidFill>
                  <a:srgbClr val="313131"/>
                </a:solidFill>
                <a:latin typeface="Courier" charset="0"/>
                <a:ea typeface="Courier" charset="0"/>
                <a:cs typeface="Courier" charset="0"/>
              </a:rPr>
              <a:t> (list1</a:t>
            </a:r>
            <a:r>
              <a:rPr lang="en-US" altLang="zh-CN" sz="2000" b="1" kern="0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[</a:t>
            </a:r>
            <a:r>
              <a:rPr lang="en-US" altLang="zh-CN" sz="2000" b="1" kern="0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2</a:t>
            </a:r>
            <a:r>
              <a:rPr lang="en-US" altLang="zh-CN" sz="2000" b="1" kern="0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]</a:t>
            </a:r>
            <a:r>
              <a:rPr lang="en-US" altLang="zh-CN" sz="2000" b="1" kern="0" dirty="0">
                <a:solidFill>
                  <a:srgbClr val="313131"/>
                </a:solidFill>
                <a:latin typeface="Courier" charset="0"/>
                <a:ea typeface="Courier" charset="0"/>
                <a:cs typeface="Courier" charset="0"/>
              </a:rPr>
              <a:t>)</a:t>
            </a:r>
          </a:p>
          <a:p>
            <a:pPr>
              <a:lnSpc>
                <a:spcPts val="1200"/>
              </a:lnSpc>
              <a:spcAft>
                <a:spcPts val="75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altLang="zh-CN" sz="2000" b="1" kern="0" dirty="0" smtClean="0">
              <a:solidFill>
                <a:srgbClr val="666600"/>
              </a:solidFill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ts val="1200"/>
              </a:lnSpc>
              <a:spcAft>
                <a:spcPts val="75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2000" b="1" kern="0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#</a:t>
            </a:r>
            <a:r>
              <a:rPr lang="zh-CN" altLang="en-US" sz="2000" b="1" kern="0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kern="0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update</a:t>
            </a:r>
            <a:r>
              <a:rPr lang="zh-CN" altLang="en-US" sz="2000" b="1" kern="0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kern="0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value</a:t>
            </a:r>
            <a:r>
              <a:rPr lang="zh-CN" altLang="en-US" sz="2000" b="1" kern="0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kern="0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in</a:t>
            </a:r>
            <a:r>
              <a:rPr lang="zh-CN" altLang="en-US" sz="2000" b="1" kern="0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kern="0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index</a:t>
            </a:r>
            <a:r>
              <a:rPr lang="zh-CN" altLang="en-US" sz="2000" b="1" kern="0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kern="0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2</a:t>
            </a:r>
            <a:endParaRPr lang="zh-CN" altLang="zh-CN" sz="2000" b="1" kern="100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ts val="1200"/>
              </a:lnSpc>
              <a:spcAft>
                <a:spcPts val="75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2000" b="1" kern="0" dirty="0">
                <a:solidFill>
                  <a:srgbClr val="313131"/>
                </a:solidFill>
                <a:latin typeface="Courier" charset="0"/>
                <a:ea typeface="Courier" charset="0"/>
                <a:cs typeface="Courier" charset="0"/>
              </a:rPr>
              <a:t>list1</a:t>
            </a:r>
            <a:r>
              <a:rPr lang="en-US" altLang="zh-CN" sz="2000" b="1" kern="0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[</a:t>
            </a:r>
            <a:r>
              <a:rPr lang="en-US" altLang="zh-CN" sz="2000" b="1" kern="0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2</a:t>
            </a:r>
            <a:r>
              <a:rPr lang="en-US" altLang="zh-CN" sz="2000" b="1" kern="0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]</a:t>
            </a:r>
            <a:r>
              <a:rPr lang="en-US" altLang="zh-CN" sz="2000" b="1" kern="0" dirty="0">
                <a:solidFill>
                  <a:srgbClr val="313131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kern="0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kern="0" dirty="0">
                <a:solidFill>
                  <a:srgbClr val="313131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kern="0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2001</a:t>
            </a:r>
            <a:r>
              <a:rPr lang="en-US" altLang="zh-CN" sz="2000" b="1" kern="0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;</a:t>
            </a:r>
          </a:p>
          <a:p>
            <a:pPr>
              <a:lnSpc>
                <a:spcPts val="1200"/>
              </a:lnSpc>
              <a:spcAft>
                <a:spcPts val="75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zh-CN" altLang="zh-CN" sz="2000" b="1" kern="100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ts val="1200"/>
              </a:lnSpc>
              <a:spcAft>
                <a:spcPts val="75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2000" b="1" kern="0" dirty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print</a:t>
            </a:r>
            <a:r>
              <a:rPr lang="en-US" altLang="zh-CN" sz="2000" b="1" kern="0" dirty="0">
                <a:solidFill>
                  <a:srgbClr val="313131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kern="0" dirty="0" smtClean="0">
                <a:solidFill>
                  <a:srgbClr val="313131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kern="0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'New value available at index 2: '</a:t>
            </a:r>
            <a:r>
              <a:rPr lang="en-US" altLang="zh-CN" sz="2000" b="1" kern="0" dirty="0" smtClean="0">
                <a:solidFill>
                  <a:srgbClr val="313131"/>
                </a:solidFill>
                <a:latin typeface="Courier" charset="0"/>
                <a:ea typeface="Courier" charset="0"/>
                <a:cs typeface="Courier" charset="0"/>
              </a:rPr>
              <a:t>)</a:t>
            </a:r>
            <a:endParaRPr lang="en-US" altLang="zh-CN" sz="2000" b="1" kern="0" dirty="0">
              <a:solidFill>
                <a:srgbClr val="313131"/>
              </a:solidFill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ts val="1200"/>
              </a:lnSpc>
              <a:spcAft>
                <a:spcPts val="75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zh-CN" altLang="zh-CN" sz="2000" b="1" kern="100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ts val="1200"/>
              </a:lnSpc>
              <a:spcAft>
                <a:spcPts val="75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2000" b="1" kern="0" dirty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print</a:t>
            </a:r>
            <a:r>
              <a:rPr lang="en-US" altLang="zh-CN" sz="2000" b="1" kern="0" dirty="0">
                <a:solidFill>
                  <a:srgbClr val="313131"/>
                </a:solidFill>
                <a:latin typeface="Courier" charset="0"/>
                <a:ea typeface="Courier" charset="0"/>
                <a:cs typeface="Courier" charset="0"/>
              </a:rPr>
              <a:t> (list1</a:t>
            </a:r>
            <a:r>
              <a:rPr lang="en-US" altLang="zh-CN" sz="2000" b="1" kern="0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[</a:t>
            </a:r>
            <a:r>
              <a:rPr lang="en-US" altLang="zh-CN" sz="2000" b="1" kern="0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2</a:t>
            </a:r>
            <a:r>
              <a:rPr lang="en-US" altLang="zh-CN" sz="2000" b="1" kern="0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])</a:t>
            </a:r>
            <a:endParaRPr lang="zh-CN" altLang="zh-CN" sz="2000" b="1" kern="100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ts val="1200"/>
              </a:lnSpc>
              <a:spcAft>
                <a:spcPts val="75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zh-CN" altLang="zh-CN" sz="2000" b="1" kern="100" dirty="0">
              <a:effectLst/>
              <a:latin typeface="Courier" charset="0"/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13407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Delete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List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Elements</a:t>
            </a:r>
            <a:endParaRPr kumimoji="1"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642211" y="2416401"/>
            <a:ext cx="7859580" cy="286847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ts val="1200"/>
              </a:lnSpc>
              <a:spcAft>
                <a:spcPts val="75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altLang="zh-CN" sz="2000" b="1" kern="0" dirty="0" smtClean="0">
              <a:solidFill>
                <a:srgbClr val="313131"/>
              </a:solidFill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ts val="1200"/>
              </a:lnSpc>
              <a:spcAft>
                <a:spcPts val="75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2000" b="1" kern="0" dirty="0">
                <a:solidFill>
                  <a:srgbClr val="313131"/>
                </a:solidFill>
                <a:latin typeface="Courier" charset="0"/>
                <a:ea typeface="Courier" charset="0"/>
                <a:cs typeface="Courier" charset="0"/>
              </a:rPr>
              <a:t>list1 </a:t>
            </a:r>
            <a:r>
              <a:rPr lang="en-US" altLang="zh-CN" sz="2000" b="1" kern="0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kern="0" dirty="0">
                <a:solidFill>
                  <a:srgbClr val="313131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kern="0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[</a:t>
            </a:r>
            <a:r>
              <a:rPr lang="en-US" altLang="zh-CN" sz="2000" b="1" kern="0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'physics'</a:t>
            </a:r>
            <a:r>
              <a:rPr lang="en-US" altLang="zh-CN" sz="2000" b="1" kern="0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kern="0" dirty="0">
                <a:solidFill>
                  <a:srgbClr val="313131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kern="0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'chemistry'</a:t>
            </a:r>
            <a:r>
              <a:rPr lang="en-US" altLang="zh-CN" sz="2000" b="1" kern="0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kern="0" dirty="0">
                <a:solidFill>
                  <a:srgbClr val="313131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kern="0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1997</a:t>
            </a:r>
            <a:r>
              <a:rPr lang="en-US" altLang="zh-CN" sz="2000" b="1" kern="0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kern="0" dirty="0">
                <a:solidFill>
                  <a:srgbClr val="313131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kern="0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2000</a:t>
            </a:r>
            <a:r>
              <a:rPr lang="en-US" altLang="zh-CN" sz="2000" b="1" kern="0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]</a:t>
            </a:r>
          </a:p>
          <a:p>
            <a:pPr>
              <a:lnSpc>
                <a:spcPts val="1200"/>
              </a:lnSpc>
              <a:spcAft>
                <a:spcPts val="75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zh-CN" altLang="zh-CN" sz="2000" b="1" kern="100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ts val="1200"/>
              </a:lnSpc>
              <a:spcAft>
                <a:spcPts val="75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2000" b="1" kern="0" dirty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print</a:t>
            </a:r>
            <a:r>
              <a:rPr lang="en-US" altLang="zh-CN" sz="2000" b="1" kern="0" dirty="0">
                <a:solidFill>
                  <a:srgbClr val="313131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kern="0" dirty="0" smtClean="0">
                <a:solidFill>
                  <a:srgbClr val="313131"/>
                </a:solidFill>
                <a:latin typeface="Courier" charset="0"/>
                <a:ea typeface="Courier" charset="0"/>
                <a:cs typeface="Courier" charset="0"/>
              </a:rPr>
              <a:t>(list1)</a:t>
            </a:r>
          </a:p>
          <a:p>
            <a:pPr>
              <a:lnSpc>
                <a:spcPts val="1200"/>
              </a:lnSpc>
              <a:spcAft>
                <a:spcPts val="75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zh-CN" altLang="zh-CN" sz="2000" b="1" kern="100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ts val="1200"/>
              </a:lnSpc>
              <a:spcAft>
                <a:spcPts val="75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2000" b="1" kern="0" dirty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del</a:t>
            </a:r>
            <a:r>
              <a:rPr lang="en-US" altLang="zh-CN" sz="2000" b="1" kern="0" dirty="0">
                <a:solidFill>
                  <a:srgbClr val="313131"/>
                </a:solidFill>
                <a:latin typeface="Courier" charset="0"/>
                <a:ea typeface="Courier" charset="0"/>
                <a:cs typeface="Courier" charset="0"/>
              </a:rPr>
              <a:t> list1</a:t>
            </a:r>
            <a:r>
              <a:rPr lang="en-US" altLang="zh-CN" sz="2000" b="1" kern="0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[</a:t>
            </a:r>
            <a:r>
              <a:rPr lang="en-US" altLang="zh-CN" sz="2000" b="1" kern="0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2</a:t>
            </a:r>
            <a:r>
              <a:rPr lang="en-US" altLang="zh-CN" sz="2000" b="1" kern="0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]</a:t>
            </a:r>
          </a:p>
          <a:p>
            <a:pPr>
              <a:lnSpc>
                <a:spcPts val="1200"/>
              </a:lnSpc>
              <a:spcAft>
                <a:spcPts val="75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zh-CN" altLang="zh-CN" sz="2000" b="1" kern="100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ts val="1200"/>
              </a:lnSpc>
              <a:spcAft>
                <a:spcPts val="75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2000" b="1" kern="0" dirty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print</a:t>
            </a:r>
            <a:r>
              <a:rPr lang="en-US" altLang="zh-CN" sz="2000" b="1" kern="0" dirty="0">
                <a:solidFill>
                  <a:srgbClr val="313131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kern="0" dirty="0" smtClean="0">
                <a:solidFill>
                  <a:srgbClr val="313131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kern="0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en-US" altLang="zh-CN" sz="2000" b="1" kern="0" dirty="0" smtClean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After </a:t>
            </a:r>
            <a:r>
              <a:rPr lang="en-US" altLang="zh-CN" sz="2000" b="1" kern="0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deleting value at index 2 : '</a:t>
            </a:r>
            <a:r>
              <a:rPr lang="en-US" altLang="zh-CN" sz="2000" b="1" kern="0" dirty="0">
                <a:solidFill>
                  <a:srgbClr val="313131"/>
                </a:solidFill>
                <a:latin typeface="Courier" charset="0"/>
                <a:ea typeface="Courier" charset="0"/>
                <a:cs typeface="Courier" charset="0"/>
              </a:rPr>
              <a:t>)</a:t>
            </a:r>
          </a:p>
          <a:p>
            <a:pPr>
              <a:lnSpc>
                <a:spcPts val="1200"/>
              </a:lnSpc>
              <a:spcAft>
                <a:spcPts val="75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zh-CN" altLang="zh-CN" sz="2000" b="1" kern="100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ts val="1200"/>
              </a:lnSpc>
              <a:spcAft>
                <a:spcPts val="75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2000" b="1" kern="0" dirty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print</a:t>
            </a:r>
            <a:r>
              <a:rPr lang="en-US" altLang="zh-CN" sz="2000" b="1" kern="0" dirty="0">
                <a:solidFill>
                  <a:srgbClr val="313131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kern="0" dirty="0" smtClean="0">
                <a:solidFill>
                  <a:srgbClr val="313131"/>
                </a:solidFill>
                <a:latin typeface="Courier" charset="0"/>
                <a:ea typeface="Courier" charset="0"/>
                <a:cs typeface="Courier" charset="0"/>
              </a:rPr>
              <a:t>(list1)</a:t>
            </a:r>
            <a:endParaRPr lang="zh-CN" altLang="zh-CN" sz="2000" b="1" kern="100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ts val="1200"/>
              </a:lnSpc>
              <a:spcAft>
                <a:spcPts val="75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zh-CN" altLang="zh-CN" sz="2000" b="1" kern="100" dirty="0">
              <a:effectLst/>
              <a:latin typeface="Courier" charset="0"/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39851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Basic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List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Operations</a:t>
            </a:r>
            <a:endParaRPr kumimoji="1" lang="zh-CN" altLang="en-US" dirty="0"/>
          </a:p>
        </p:txBody>
      </p:sp>
      <p:graphicFrame>
        <p:nvGraphicFramePr>
          <p:cNvPr id="7" name="内容占位符 6"/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009495120"/>
              </p:ext>
            </p:extLst>
          </p:nvPr>
        </p:nvGraphicFramePr>
        <p:xfrm>
          <a:off x="685331" y="2214695"/>
          <a:ext cx="7596822" cy="3692120"/>
        </p:xfrm>
        <a:graphic>
          <a:graphicData uri="http://schemas.openxmlformats.org/drawingml/2006/table">
            <a:tbl>
              <a:tblPr firstRow="1" firstCol="1" bandRow="1"/>
              <a:tblGrid>
                <a:gridCol w="2236545"/>
                <a:gridCol w="2828003"/>
                <a:gridCol w="2532274"/>
              </a:tblGrid>
              <a:tr h="923030">
                <a:tc>
                  <a:txBody>
                    <a:bodyPr/>
                    <a:lstStyle/>
                    <a:p>
                      <a:pPr>
                        <a:spcAft>
                          <a:spcPts val="1500"/>
                        </a:spcAft>
                      </a:pPr>
                      <a:r>
                        <a:rPr lang="en-US" sz="2000" b="1" i="0" kern="100" dirty="0">
                          <a:solidFill>
                            <a:srgbClr val="313131"/>
                          </a:solidFill>
                          <a:effectLst/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Python Expression</a:t>
                      </a:r>
                      <a:endParaRPr lang="zh-CN" sz="2000" b="1" i="0" kern="100" dirty="0">
                        <a:effectLst/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500"/>
                        </a:spcAft>
                      </a:pPr>
                      <a:r>
                        <a:rPr lang="en-US" sz="2000" b="1" i="0" kern="100">
                          <a:solidFill>
                            <a:srgbClr val="313131"/>
                          </a:solidFill>
                          <a:effectLst/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Results</a:t>
                      </a:r>
                      <a:endParaRPr lang="zh-CN" sz="2000" b="1" i="0" kern="100">
                        <a:effectLst/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500"/>
                        </a:spcAft>
                      </a:pPr>
                      <a:r>
                        <a:rPr lang="en-US" sz="2000" b="1" i="0" kern="100">
                          <a:solidFill>
                            <a:srgbClr val="313131"/>
                          </a:solidFill>
                          <a:effectLst/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Description</a:t>
                      </a:r>
                      <a:endParaRPr lang="zh-CN" sz="2000" b="1" i="0" kern="100">
                        <a:effectLst/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923030">
                <a:tc>
                  <a:txBody>
                    <a:bodyPr/>
                    <a:lstStyle/>
                    <a:p>
                      <a:pPr>
                        <a:spcAft>
                          <a:spcPts val="1500"/>
                        </a:spcAft>
                      </a:pPr>
                      <a:r>
                        <a:rPr lang="en-US" sz="2000" b="1" i="0" kern="100">
                          <a:solidFill>
                            <a:srgbClr val="313131"/>
                          </a:solidFill>
                          <a:effectLst/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len([1, 2, 3])</a:t>
                      </a:r>
                      <a:endParaRPr lang="zh-CN" sz="2000" b="1" i="0" kern="100">
                        <a:effectLst/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500"/>
                        </a:spcAft>
                      </a:pPr>
                      <a:r>
                        <a:rPr lang="en-US" sz="2000" b="1" i="0" kern="100">
                          <a:solidFill>
                            <a:srgbClr val="313131"/>
                          </a:solidFill>
                          <a:effectLst/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3</a:t>
                      </a:r>
                      <a:endParaRPr lang="zh-CN" sz="2000" b="1" i="0" kern="100">
                        <a:effectLst/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500"/>
                        </a:spcAft>
                      </a:pPr>
                      <a:r>
                        <a:rPr lang="en-US" sz="2000" b="1" i="0" kern="100">
                          <a:solidFill>
                            <a:srgbClr val="313131"/>
                          </a:solidFill>
                          <a:effectLst/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Length</a:t>
                      </a:r>
                      <a:endParaRPr lang="zh-CN" sz="2000" b="1" i="0" kern="100">
                        <a:effectLst/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23030">
                <a:tc>
                  <a:txBody>
                    <a:bodyPr/>
                    <a:lstStyle/>
                    <a:p>
                      <a:pPr>
                        <a:spcAft>
                          <a:spcPts val="1500"/>
                        </a:spcAft>
                      </a:pPr>
                      <a:r>
                        <a:rPr lang="en-US" sz="2000" b="1" i="0" kern="100">
                          <a:solidFill>
                            <a:srgbClr val="313131"/>
                          </a:solidFill>
                          <a:effectLst/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[1, 2, 3] + [4, 5, 6]</a:t>
                      </a:r>
                      <a:endParaRPr lang="zh-CN" sz="2000" b="1" i="0" kern="100">
                        <a:effectLst/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500"/>
                        </a:spcAft>
                      </a:pPr>
                      <a:r>
                        <a:rPr lang="en-US" sz="2000" b="1" i="0" kern="100">
                          <a:solidFill>
                            <a:srgbClr val="313131"/>
                          </a:solidFill>
                          <a:effectLst/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[1, 2, 3, 4, 5, 6]</a:t>
                      </a:r>
                      <a:endParaRPr lang="zh-CN" sz="2000" b="1" i="0" kern="100">
                        <a:effectLst/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500"/>
                        </a:spcAft>
                      </a:pPr>
                      <a:r>
                        <a:rPr lang="en-US" sz="2000" b="1" i="0" kern="100" dirty="0">
                          <a:solidFill>
                            <a:srgbClr val="313131"/>
                          </a:solidFill>
                          <a:effectLst/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Concatenation</a:t>
                      </a:r>
                      <a:endParaRPr lang="zh-CN" sz="2000" b="1" i="0" kern="100" dirty="0">
                        <a:effectLst/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23030">
                <a:tc>
                  <a:txBody>
                    <a:bodyPr/>
                    <a:lstStyle/>
                    <a:p>
                      <a:pPr>
                        <a:spcAft>
                          <a:spcPts val="1500"/>
                        </a:spcAft>
                      </a:pPr>
                      <a:r>
                        <a:rPr lang="en-US" sz="2000" b="1" i="0" kern="100">
                          <a:solidFill>
                            <a:srgbClr val="313131"/>
                          </a:solidFill>
                          <a:effectLst/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['Hi!'] * 4</a:t>
                      </a:r>
                      <a:endParaRPr lang="zh-CN" sz="2000" b="1" i="0" kern="100">
                        <a:effectLst/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500"/>
                        </a:spcAft>
                      </a:pPr>
                      <a:r>
                        <a:rPr lang="en-US" sz="2000" b="1" i="0" kern="100">
                          <a:solidFill>
                            <a:srgbClr val="313131"/>
                          </a:solidFill>
                          <a:effectLst/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['Hi!', 'Hi!', 'Hi!', 'Hi!']</a:t>
                      </a:r>
                      <a:endParaRPr lang="zh-CN" sz="2000" b="1" i="0" kern="100">
                        <a:effectLst/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500"/>
                        </a:spcAft>
                      </a:pPr>
                      <a:r>
                        <a:rPr lang="en-US" sz="2000" b="1" i="0" kern="100" dirty="0">
                          <a:solidFill>
                            <a:srgbClr val="313131"/>
                          </a:solidFill>
                          <a:effectLst/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Repetition</a:t>
                      </a:r>
                      <a:endParaRPr lang="zh-CN" sz="2000" b="1" i="0" kern="100" dirty="0">
                        <a:effectLst/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06451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Built-in List Functions &amp; Methods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7772870" cy="3928604"/>
          </a:xfrm>
        </p:spPr>
        <p:txBody>
          <a:bodyPr/>
          <a:lstStyle/>
          <a:p>
            <a:r>
              <a:rPr kumimoji="1" lang="en-US" altLang="zh-CN" dirty="0" err="1" smtClean="0"/>
              <a:t>list.append</a:t>
            </a:r>
            <a:r>
              <a:rPr kumimoji="1" lang="en-US" altLang="zh-CN" dirty="0" smtClean="0"/>
              <a:t>(</a:t>
            </a:r>
            <a:r>
              <a:rPr kumimoji="1" lang="en-US" altLang="zh-CN" dirty="0" err="1" smtClean="0"/>
              <a:t>obj</a:t>
            </a:r>
            <a:r>
              <a:rPr kumimoji="1" lang="en-US" altLang="zh-CN" dirty="0" smtClean="0"/>
              <a:t>)</a:t>
            </a:r>
          </a:p>
          <a:p>
            <a:pPr lvl="1"/>
            <a:r>
              <a:rPr kumimoji="1" lang="en-US" altLang="zh-CN" dirty="0" smtClean="0"/>
              <a:t>Appends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objects</a:t>
            </a:r>
            <a:r>
              <a:rPr kumimoji="1" lang="zh-CN" altLang="en-US" dirty="0" smtClean="0"/>
              <a:t> </a:t>
            </a:r>
            <a:r>
              <a:rPr kumimoji="1" lang="en-US" altLang="zh-CN" dirty="0" err="1" smtClean="0"/>
              <a:t>obj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to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list</a:t>
            </a:r>
          </a:p>
          <a:p>
            <a:r>
              <a:rPr kumimoji="1" lang="en-US" altLang="zh-CN" dirty="0" err="1" smtClean="0"/>
              <a:t>list.insert</a:t>
            </a:r>
            <a:r>
              <a:rPr kumimoji="1" lang="en-US" altLang="zh-CN" dirty="0" smtClean="0"/>
              <a:t>(index,</a:t>
            </a:r>
            <a:r>
              <a:rPr kumimoji="1" lang="zh-CN" altLang="en-US" dirty="0" smtClean="0"/>
              <a:t> </a:t>
            </a:r>
            <a:r>
              <a:rPr kumimoji="1" lang="en-US" altLang="zh-CN" dirty="0" err="1" smtClean="0"/>
              <a:t>obj</a:t>
            </a:r>
            <a:r>
              <a:rPr kumimoji="1" lang="en-US" altLang="zh-CN" dirty="0" smtClean="0"/>
              <a:t>)</a:t>
            </a:r>
          </a:p>
          <a:p>
            <a:pPr lvl="1"/>
            <a:r>
              <a:rPr kumimoji="1" lang="en-US" altLang="zh-CN" dirty="0" smtClean="0"/>
              <a:t>Inserts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object</a:t>
            </a:r>
            <a:r>
              <a:rPr kumimoji="1" lang="zh-CN" altLang="en-US" dirty="0" smtClean="0"/>
              <a:t> </a:t>
            </a:r>
            <a:r>
              <a:rPr kumimoji="1" lang="en-US" altLang="zh-CN" dirty="0" err="1" smtClean="0"/>
              <a:t>obj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into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list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at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offset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index</a:t>
            </a:r>
          </a:p>
          <a:p>
            <a:r>
              <a:rPr kumimoji="1" lang="en-US" altLang="zh-CN" dirty="0" err="1"/>
              <a:t>l</a:t>
            </a:r>
            <a:r>
              <a:rPr kumimoji="1" lang="en-US" altLang="zh-CN" dirty="0" err="1" smtClean="0"/>
              <a:t>ist.extend</a:t>
            </a:r>
            <a:r>
              <a:rPr kumimoji="1" lang="en-US" altLang="zh-CN" dirty="0" smtClean="0"/>
              <a:t>(</a:t>
            </a:r>
            <a:r>
              <a:rPr kumimoji="1" lang="en-US" altLang="zh-CN" dirty="0" err="1" smtClean="0"/>
              <a:t>seq</a:t>
            </a:r>
            <a:r>
              <a:rPr kumimoji="1" lang="en-US" altLang="zh-CN" dirty="0" smtClean="0"/>
              <a:t>)</a:t>
            </a:r>
          </a:p>
          <a:p>
            <a:pPr lvl="1"/>
            <a:r>
              <a:rPr kumimoji="1" lang="en-US" altLang="zh-CN" dirty="0" smtClean="0"/>
              <a:t>Appends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the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contents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of</a:t>
            </a:r>
            <a:r>
              <a:rPr kumimoji="1" lang="zh-CN" altLang="en-US" dirty="0" smtClean="0"/>
              <a:t> </a:t>
            </a:r>
            <a:r>
              <a:rPr kumimoji="1" lang="en-US" altLang="zh-CN" dirty="0" err="1" smtClean="0"/>
              <a:t>seq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to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list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311528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list.append</a:t>
            </a:r>
            <a:r>
              <a:rPr kumimoji="1" lang="en-US" altLang="zh-CN" dirty="0"/>
              <a:t>(</a:t>
            </a:r>
            <a:r>
              <a:rPr kumimoji="1" lang="en-US" altLang="zh-CN" dirty="0" err="1"/>
              <a:t>obj</a:t>
            </a:r>
            <a:r>
              <a:rPr kumimoji="1" lang="en-US" altLang="zh-CN" dirty="0"/>
              <a:t>)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685330" y="4381315"/>
            <a:ext cx="7773338" cy="155190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ts val="1200"/>
              </a:lnSpc>
              <a:spcAft>
                <a:spcPts val="75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altLang="zh-CN" sz="2000" b="1" dirty="0" smtClean="0">
              <a:solidFill>
                <a:srgbClr val="000000"/>
              </a:solidFill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ts val="1200"/>
              </a:lnSpc>
              <a:spcAft>
                <a:spcPts val="75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list1 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[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'physics'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'chemistry'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1997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2000</a:t>
            </a:r>
            <a:r>
              <a:rPr lang="en-US" altLang="zh-CN" sz="2000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]</a:t>
            </a:r>
          </a:p>
          <a:p>
            <a:pPr>
              <a:lnSpc>
                <a:spcPts val="1200"/>
              </a:lnSpc>
              <a:spcAft>
                <a:spcPts val="75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</a:p>
          <a:p>
            <a:pPr>
              <a:lnSpc>
                <a:spcPts val="1200"/>
              </a:lnSpc>
              <a:spcAft>
                <a:spcPts val="75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list1</a:t>
            </a:r>
            <a:r>
              <a:rPr lang="en-US" altLang="zh-CN" sz="2000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en-US" altLang="zh-CN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append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'history'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endParaRPr lang="en-US" altLang="zh-CN" sz="2000" b="1" dirty="0" smtClean="0">
              <a:solidFill>
                <a:srgbClr val="000000"/>
              </a:solidFill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ts val="1200"/>
              </a:lnSpc>
              <a:spcAft>
                <a:spcPts val="75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altLang="zh-CN" sz="2000" b="1" dirty="0" smtClean="0">
              <a:solidFill>
                <a:srgbClr val="000088"/>
              </a:solidFill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ts val="1200"/>
              </a:lnSpc>
              <a:spcAft>
                <a:spcPts val="75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2000" b="1" dirty="0" smtClean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print</a:t>
            </a:r>
            <a:r>
              <a:rPr lang="en-US" altLang="zh-CN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en-US" altLang="zh-CN" sz="2000" b="1" dirty="0" smtClean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list1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: '</a:t>
            </a:r>
            <a:r>
              <a:rPr lang="en-US" altLang="zh-CN" sz="2000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list1</a:t>
            </a:r>
            <a:r>
              <a:rPr lang="en-US" altLang="zh-CN" sz="2000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</a:t>
            </a:r>
            <a:endParaRPr lang="zh-CN" altLang="zh-CN" sz="2000" b="1" kern="100" dirty="0">
              <a:effectLst/>
              <a:latin typeface="Courier" charset="0"/>
              <a:ea typeface="Courier" charset="0"/>
              <a:cs typeface="Courier" charset="0"/>
            </a:endParaRPr>
          </a:p>
        </p:txBody>
      </p:sp>
      <p:graphicFrame>
        <p:nvGraphicFramePr>
          <p:cNvPr id="16" name="表格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4039414"/>
              </p:ext>
            </p:extLst>
          </p:nvPr>
        </p:nvGraphicFramePr>
        <p:xfrm>
          <a:off x="685330" y="2338549"/>
          <a:ext cx="6009816" cy="53865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02454"/>
                <a:gridCol w="1502454"/>
                <a:gridCol w="1502454"/>
                <a:gridCol w="1502454"/>
              </a:tblGrid>
              <a:tr h="5386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1" dirty="0" smtClean="0"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’physics’</a:t>
                      </a:r>
                      <a:endParaRPr lang="zh-CN" altLang="en-US" sz="2000" b="1" i="1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1" dirty="0" smtClean="0"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‘chemistry’</a:t>
                      </a:r>
                      <a:endParaRPr lang="zh-CN" altLang="en-US" sz="2000" b="1" i="1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1" dirty="0" smtClean="0"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1997</a:t>
                      </a:r>
                      <a:endParaRPr lang="zh-CN" altLang="en-US" sz="2000" b="1" i="1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1" dirty="0" smtClean="0"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2000</a:t>
                      </a:r>
                      <a:endParaRPr lang="zh-CN" altLang="en-US" sz="2000" b="1" i="1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文本框 16"/>
          <p:cNvSpPr txBox="1"/>
          <p:nvPr/>
        </p:nvSpPr>
        <p:spPr>
          <a:xfrm>
            <a:off x="6432331" y="3379653"/>
            <a:ext cx="136634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en-US" altLang="zh-CN" sz="2400" b="1" dirty="0" smtClean="0">
                <a:latin typeface="Times New Roman" charset="0"/>
                <a:ea typeface="Times New Roman" charset="0"/>
                <a:cs typeface="Times New Roman" charset="0"/>
              </a:rPr>
              <a:t>‘history’</a:t>
            </a:r>
            <a:endParaRPr kumimoji="1" lang="zh-CN" altLang="en-US" sz="2400" b="1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cxnSp>
        <p:nvCxnSpPr>
          <p:cNvPr id="19" name="肘形连接符 18"/>
          <p:cNvCxnSpPr>
            <a:stCxn id="17" idx="3"/>
            <a:endCxn id="16" idx="3"/>
          </p:cNvCxnSpPr>
          <p:nvPr/>
        </p:nvCxnSpPr>
        <p:spPr>
          <a:xfrm flipH="1" flipV="1">
            <a:off x="6695146" y="2607877"/>
            <a:ext cx="1103531" cy="1002609"/>
          </a:xfrm>
          <a:prstGeom prst="bentConnector3">
            <a:avLst>
              <a:gd name="adj1" fmla="val -20715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48258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list.insert</a:t>
            </a:r>
            <a:r>
              <a:rPr kumimoji="1" lang="en-US" altLang="zh-CN" dirty="0"/>
              <a:t>(index,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obj</a:t>
            </a:r>
            <a:r>
              <a:rPr kumimoji="1" lang="en-US" altLang="zh-CN" dirty="0" smtClean="0"/>
              <a:t>)</a:t>
            </a:r>
            <a:endParaRPr kumimoji="1"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685330" y="4381315"/>
            <a:ext cx="7773340" cy="163121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list1 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[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'physics'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'chemistry'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1997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2000</a:t>
            </a:r>
            <a:r>
              <a:rPr lang="en-US" altLang="zh-CN" sz="2000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]</a:t>
            </a:r>
          </a:p>
          <a:p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list1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insert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1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'history'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endParaRPr lang="en-US" altLang="zh-CN" sz="2000" b="1" dirty="0" smtClean="0">
              <a:solidFill>
                <a:srgbClr val="000088"/>
              </a:solidFill>
              <a:latin typeface="Courier" charset="0"/>
              <a:ea typeface="Courier" charset="0"/>
              <a:cs typeface="Courier" charset="0"/>
            </a:endParaRPr>
          </a:p>
          <a:p>
            <a:r>
              <a:rPr lang="en-US" altLang="zh-CN" sz="2000" b="1" dirty="0" smtClean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print</a:t>
            </a:r>
            <a:r>
              <a:rPr lang="en-US" altLang="zh-CN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'list1: '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list1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</a:t>
            </a:r>
            <a:endParaRPr lang="en-US" altLang="zh-CN" sz="2000" b="1" dirty="0">
              <a:effectLst/>
              <a:latin typeface="Courier" charset="0"/>
              <a:ea typeface="Courier" charset="0"/>
              <a:cs typeface="Courier" charset="0"/>
            </a:endParaRPr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397861"/>
              </p:ext>
            </p:extLst>
          </p:nvPr>
        </p:nvGraphicFramePr>
        <p:xfrm>
          <a:off x="685330" y="2214695"/>
          <a:ext cx="6009816" cy="53566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02454"/>
                <a:gridCol w="1502454"/>
                <a:gridCol w="1502454"/>
                <a:gridCol w="1502454"/>
              </a:tblGrid>
              <a:tr h="53566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1" dirty="0" smtClean="0"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’physics’</a:t>
                      </a:r>
                      <a:endParaRPr lang="zh-CN" altLang="en-US" sz="2000" b="1" i="1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1" dirty="0" smtClean="0"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‘chemistry’</a:t>
                      </a:r>
                      <a:endParaRPr lang="zh-CN" altLang="en-US" sz="2000" b="1" i="1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1" dirty="0" smtClean="0"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1997</a:t>
                      </a:r>
                      <a:endParaRPr lang="zh-CN" altLang="en-US" sz="2000" b="1" i="1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1" dirty="0" smtClean="0"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2000</a:t>
                      </a:r>
                      <a:endParaRPr lang="zh-CN" altLang="en-US" sz="2000" b="1" i="1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文本框 13"/>
          <p:cNvSpPr txBox="1"/>
          <p:nvPr/>
        </p:nvSpPr>
        <p:spPr>
          <a:xfrm>
            <a:off x="1545022" y="3457554"/>
            <a:ext cx="136634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en-US" altLang="zh-CN" sz="2400" b="1" dirty="0" smtClean="0">
                <a:latin typeface="Times New Roman" charset="0"/>
                <a:ea typeface="Times New Roman" charset="0"/>
                <a:cs typeface="Times New Roman" charset="0"/>
              </a:rPr>
              <a:t>‘history’</a:t>
            </a:r>
            <a:endParaRPr kumimoji="1" lang="zh-CN" altLang="en-US" sz="2400" b="1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cxnSp>
        <p:nvCxnSpPr>
          <p:cNvPr id="16" name="直线箭头连接符 15"/>
          <p:cNvCxnSpPr>
            <a:stCxn id="14" idx="0"/>
          </p:cNvCxnSpPr>
          <p:nvPr/>
        </p:nvCxnSpPr>
        <p:spPr>
          <a:xfrm flipV="1">
            <a:off x="2228195" y="2750364"/>
            <a:ext cx="1" cy="70719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51975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list.extend</a:t>
            </a:r>
            <a:r>
              <a:rPr kumimoji="1" lang="en-US" altLang="zh-CN" dirty="0"/>
              <a:t>(</a:t>
            </a:r>
            <a:r>
              <a:rPr kumimoji="1" lang="en-US" altLang="zh-CN" dirty="0" err="1"/>
              <a:t>seq</a:t>
            </a:r>
            <a:r>
              <a:rPr kumimoji="1" lang="en-US" altLang="zh-CN" dirty="0" smtClean="0"/>
              <a:t>)</a:t>
            </a:r>
            <a:endParaRPr kumimoji="1"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685331" y="4009868"/>
            <a:ext cx="7773340" cy="224676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list1 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[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'physics'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'chemistry'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1997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2000</a:t>
            </a:r>
            <a:r>
              <a:rPr lang="en-US" altLang="zh-CN" sz="2000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]</a:t>
            </a:r>
          </a:p>
          <a:p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list2 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[</a:t>
            </a:r>
            <a:r>
              <a:rPr lang="en-US" altLang="zh-CN" sz="2000" b="1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1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2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3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4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5</a:t>
            </a:r>
            <a:r>
              <a:rPr lang="en-US" altLang="zh-CN" sz="2000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]</a:t>
            </a:r>
          </a:p>
          <a:p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list1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extend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list2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endParaRPr lang="en-US" altLang="zh-CN" sz="2000" b="1" dirty="0" smtClean="0">
              <a:solidFill>
                <a:srgbClr val="000000"/>
              </a:solidFill>
              <a:latin typeface="Courier" charset="0"/>
              <a:ea typeface="Courier" charset="0"/>
              <a:cs typeface="Courier" charset="0"/>
            </a:endParaRPr>
          </a:p>
          <a:p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en-US" altLang="zh-CN" sz="2000" b="1" dirty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print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'list1: '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list1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</a:t>
            </a:r>
            <a:endParaRPr lang="en-US" altLang="zh-CN" sz="2000" b="1" dirty="0">
              <a:effectLst/>
              <a:latin typeface="Courier" charset="0"/>
              <a:ea typeface="Courier" charset="0"/>
              <a:cs typeface="Courier" charset="0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0679770"/>
              </p:ext>
            </p:extLst>
          </p:nvPr>
        </p:nvGraphicFramePr>
        <p:xfrm>
          <a:off x="685330" y="2214695"/>
          <a:ext cx="6009816" cy="53566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02454"/>
                <a:gridCol w="1502454"/>
                <a:gridCol w="1502454"/>
                <a:gridCol w="1502454"/>
              </a:tblGrid>
              <a:tr h="53566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1" dirty="0" smtClean="0"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’physics’</a:t>
                      </a:r>
                      <a:endParaRPr lang="zh-CN" altLang="en-US" sz="2000" b="1" i="1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1" dirty="0" smtClean="0"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‘chemistry’</a:t>
                      </a:r>
                      <a:endParaRPr lang="zh-CN" altLang="en-US" sz="2000" b="1" i="1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1" dirty="0" smtClean="0"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1997</a:t>
                      </a:r>
                      <a:endParaRPr lang="zh-CN" altLang="en-US" sz="2000" b="1" i="1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1" dirty="0" smtClean="0"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2000</a:t>
                      </a:r>
                      <a:endParaRPr lang="zh-CN" altLang="en-US" sz="2000" b="1" i="1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9891653"/>
              </p:ext>
            </p:extLst>
          </p:nvPr>
        </p:nvGraphicFramePr>
        <p:xfrm>
          <a:off x="4285126" y="3266600"/>
          <a:ext cx="3860390" cy="45406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72078"/>
                <a:gridCol w="772078"/>
                <a:gridCol w="772078"/>
                <a:gridCol w="772078"/>
                <a:gridCol w="772078"/>
              </a:tblGrid>
              <a:tr h="45406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1" dirty="0" smtClean="0"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1</a:t>
                      </a:r>
                      <a:endParaRPr lang="zh-CN" altLang="en-US" sz="2000" b="1" i="1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1" dirty="0" smtClean="0"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2</a:t>
                      </a:r>
                      <a:endParaRPr lang="zh-CN" altLang="en-US" sz="2000" b="1" i="1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1" dirty="0" smtClean="0"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3</a:t>
                      </a:r>
                      <a:endParaRPr lang="zh-CN" altLang="en-US" sz="2000" b="1" i="1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1" dirty="0" smtClean="0"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4</a:t>
                      </a:r>
                      <a:endParaRPr lang="zh-CN" altLang="en-US" sz="2000" b="1" i="1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1" dirty="0" smtClean="0"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5</a:t>
                      </a:r>
                      <a:endParaRPr lang="zh-CN" altLang="en-US" sz="2000" b="1" i="1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cxnSp>
        <p:nvCxnSpPr>
          <p:cNvPr id="7" name="肘形连接符 6"/>
          <p:cNvCxnSpPr>
            <a:stCxn id="6" idx="3"/>
            <a:endCxn id="5" idx="3"/>
          </p:cNvCxnSpPr>
          <p:nvPr/>
        </p:nvCxnSpPr>
        <p:spPr>
          <a:xfrm flipH="1" flipV="1">
            <a:off x="6695146" y="2482529"/>
            <a:ext cx="1450370" cy="1011102"/>
          </a:xfrm>
          <a:prstGeom prst="bentConnector3">
            <a:avLst>
              <a:gd name="adj1" fmla="val -15761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2722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Built-in List Functions &amp; Methods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zh-CN" dirty="0" err="1"/>
              <a:t>l</a:t>
            </a:r>
            <a:r>
              <a:rPr kumimoji="1" lang="en-US" altLang="zh-CN" dirty="0" err="1" smtClean="0"/>
              <a:t>ist.remove</a:t>
            </a:r>
            <a:r>
              <a:rPr kumimoji="1" lang="en-US" altLang="zh-CN" dirty="0" smtClean="0"/>
              <a:t>(</a:t>
            </a:r>
            <a:r>
              <a:rPr kumimoji="1" lang="en-US" altLang="zh-CN" dirty="0" err="1" smtClean="0"/>
              <a:t>obj</a:t>
            </a:r>
            <a:r>
              <a:rPr kumimoji="1" lang="en-US" altLang="zh-CN" dirty="0" smtClean="0"/>
              <a:t>)</a:t>
            </a:r>
          </a:p>
          <a:p>
            <a:pPr lvl="1"/>
            <a:r>
              <a:rPr kumimoji="1" lang="en-US" altLang="zh-CN" dirty="0" smtClean="0"/>
              <a:t>Removes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object</a:t>
            </a:r>
            <a:r>
              <a:rPr kumimoji="1" lang="zh-CN" altLang="en-US" dirty="0" smtClean="0"/>
              <a:t> </a:t>
            </a:r>
            <a:r>
              <a:rPr kumimoji="1" lang="en-US" altLang="zh-CN" dirty="0" err="1" smtClean="0"/>
              <a:t>obj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from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list</a:t>
            </a:r>
          </a:p>
          <a:p>
            <a:r>
              <a:rPr kumimoji="1" lang="en-US" altLang="zh-CN" dirty="0" err="1"/>
              <a:t>l</a:t>
            </a:r>
            <a:r>
              <a:rPr kumimoji="1" lang="en-US" altLang="zh-CN" dirty="0" err="1" smtClean="0"/>
              <a:t>ist.pop</a:t>
            </a:r>
            <a:r>
              <a:rPr kumimoji="1" lang="en-US" altLang="zh-CN" dirty="0" smtClean="0"/>
              <a:t>()</a:t>
            </a:r>
          </a:p>
          <a:p>
            <a:pPr lvl="1"/>
            <a:r>
              <a:rPr kumimoji="1" lang="en-US" altLang="zh-CN" dirty="0" smtClean="0"/>
              <a:t>Removes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and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returns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last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object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991697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Built-in List Functions &amp; Methods</a:t>
            </a:r>
            <a:endParaRPr kumimoji="1"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685330" y="2594557"/>
            <a:ext cx="7773340" cy="286232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list1 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[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'physics'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'chemistry'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1997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2000</a:t>
            </a:r>
            <a:r>
              <a:rPr lang="en-US" altLang="zh-CN" sz="2000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]</a:t>
            </a:r>
          </a:p>
          <a:p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list1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remove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1997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endParaRPr lang="en-US" altLang="zh-CN" sz="2000" b="1" dirty="0" smtClean="0">
              <a:solidFill>
                <a:srgbClr val="000088"/>
              </a:solidFill>
              <a:latin typeface="Courier" charset="0"/>
              <a:ea typeface="Courier" charset="0"/>
              <a:cs typeface="Courier" charset="0"/>
            </a:endParaRPr>
          </a:p>
          <a:p>
            <a:r>
              <a:rPr lang="en-US" altLang="zh-CN" sz="2000" b="1" dirty="0" smtClean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print</a:t>
            </a:r>
            <a:r>
              <a:rPr lang="en-US" altLang="zh-CN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'list1: '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list1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endParaRPr lang="en-US" altLang="zh-CN" sz="2000" b="1" dirty="0" smtClean="0">
              <a:solidFill>
                <a:srgbClr val="000000"/>
              </a:solidFill>
              <a:latin typeface="Courier" charset="0"/>
              <a:ea typeface="Courier" charset="0"/>
              <a:cs typeface="Courier" charset="0"/>
            </a:endParaRPr>
          </a:p>
          <a:p>
            <a:r>
              <a:rPr lang="en-US" altLang="zh-CN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list1</a:t>
            </a:r>
            <a:r>
              <a:rPr lang="en-US" altLang="zh-CN" sz="2000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en-US" altLang="zh-CN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pop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()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endParaRPr lang="en-US" altLang="zh-CN" sz="2000" b="1" dirty="0" smtClean="0">
              <a:solidFill>
                <a:srgbClr val="000088"/>
              </a:solidFill>
              <a:latin typeface="Courier" charset="0"/>
              <a:ea typeface="Courier" charset="0"/>
              <a:cs typeface="Courier" charset="0"/>
            </a:endParaRPr>
          </a:p>
          <a:p>
            <a:r>
              <a:rPr lang="en-US" altLang="zh-CN" sz="2000" b="1" dirty="0" smtClean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print</a:t>
            </a:r>
            <a:r>
              <a:rPr lang="en-US" altLang="zh-CN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'list1: '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list1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</a:t>
            </a:r>
            <a:endParaRPr lang="en-US" altLang="zh-CN" sz="2000" b="1" dirty="0">
              <a:effectLst/>
              <a:latin typeface="Courier" charset="0"/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66103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zh-CN" dirty="0" smtClean="0"/>
              <a:t>Data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Structures</a:t>
            </a:r>
            <a:br>
              <a:rPr kumimoji="1" lang="en-US" altLang="zh-CN" dirty="0" smtClean="0"/>
            </a:br>
            <a:r>
              <a:rPr kumimoji="1" lang="en-US" altLang="zh-CN" dirty="0" smtClean="0"/>
              <a:t>--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List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and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Tuple</a:t>
            </a:r>
            <a:endParaRPr kumimoji="1"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7955359" y="6362701"/>
            <a:ext cx="1188641" cy="495299"/>
          </a:xfrm>
        </p:spPr>
        <p:txBody>
          <a:bodyPr/>
          <a:lstStyle/>
          <a:p>
            <a:r>
              <a:rPr kumimoji="1" lang="zh-CN" altLang="en-US" dirty="0" smtClean="0"/>
              <a:t>江琳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940420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Tuple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7772870" cy="3781459"/>
          </a:xfrm>
        </p:spPr>
        <p:txBody>
          <a:bodyPr/>
          <a:lstStyle/>
          <a:p>
            <a:r>
              <a:rPr lang="en-US" altLang="zh-CN" dirty="0"/>
              <a:t>A tuple is a sequence of immutable Python objects. </a:t>
            </a:r>
            <a:endParaRPr lang="en-US" altLang="zh-CN" dirty="0" smtClean="0"/>
          </a:p>
          <a:p>
            <a:r>
              <a:rPr lang="en-US" altLang="zh-CN" dirty="0" smtClean="0"/>
              <a:t>Tuples </a:t>
            </a:r>
            <a:r>
              <a:rPr lang="en-US" altLang="zh-CN" dirty="0"/>
              <a:t>are sequences, just like lists</a:t>
            </a:r>
            <a:r>
              <a:rPr lang="en-US" altLang="zh-CN" dirty="0" smtClean="0"/>
              <a:t>.</a:t>
            </a:r>
          </a:p>
          <a:p>
            <a:r>
              <a:rPr lang="en-US" altLang="zh-CN" dirty="0" smtClean="0"/>
              <a:t> </a:t>
            </a:r>
            <a:r>
              <a:rPr lang="en-US" altLang="zh-CN" dirty="0"/>
              <a:t>The differences between tuples and lists </a:t>
            </a:r>
            <a:r>
              <a:rPr lang="en-US" altLang="zh-CN" dirty="0" smtClean="0"/>
              <a:t>are:</a:t>
            </a:r>
          </a:p>
          <a:p>
            <a:pPr lvl="1"/>
            <a:r>
              <a:rPr lang="en-US" altLang="zh-CN" dirty="0" smtClean="0"/>
              <a:t>the </a:t>
            </a:r>
            <a:r>
              <a:rPr lang="en-US" altLang="zh-CN" dirty="0"/>
              <a:t>tuples cannot be changed unlike </a:t>
            </a:r>
            <a:r>
              <a:rPr lang="en-US" altLang="zh-CN" dirty="0" smtClean="0"/>
              <a:t>lists</a:t>
            </a:r>
          </a:p>
          <a:p>
            <a:pPr lvl="1"/>
            <a:r>
              <a:rPr lang="en-US" altLang="zh-CN" dirty="0" smtClean="0"/>
              <a:t>tuples </a:t>
            </a:r>
            <a:r>
              <a:rPr lang="en-US" altLang="zh-CN" dirty="0"/>
              <a:t>use parentheses, whereas lists use square brackets.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01806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Creating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Tuple</a:t>
            </a:r>
            <a:endParaRPr kumimoji="1"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685330" y="2222218"/>
            <a:ext cx="7773340" cy="409342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tup1 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'physics'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'chemistry'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1997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2000</a:t>
            </a:r>
            <a:r>
              <a:rPr lang="en-US" altLang="zh-CN" sz="2000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);</a:t>
            </a:r>
          </a:p>
          <a:p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en-US" altLang="zh-CN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tup2 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1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2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3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4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5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);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endParaRPr lang="en-US" altLang="zh-CN" sz="2000" b="1" dirty="0" smtClean="0">
              <a:solidFill>
                <a:srgbClr val="880000"/>
              </a:solidFill>
              <a:latin typeface="Courier" charset="0"/>
              <a:ea typeface="Courier" charset="0"/>
              <a:cs typeface="Courier" charset="0"/>
            </a:endParaRPr>
          </a:p>
          <a:p>
            <a:endParaRPr lang="en-US" altLang="zh-CN" sz="2000" b="1" dirty="0">
              <a:solidFill>
                <a:srgbClr val="880000"/>
              </a:solidFill>
              <a:latin typeface="Courier" charset="0"/>
              <a:ea typeface="Courier" charset="0"/>
              <a:cs typeface="Courier" charset="0"/>
            </a:endParaRPr>
          </a:p>
          <a:p>
            <a:r>
              <a:rPr lang="en-US" altLang="zh-CN" sz="2000" b="1" dirty="0" smtClean="0">
                <a:solidFill>
                  <a:srgbClr val="880000"/>
                </a:solidFill>
                <a:latin typeface="Courier" charset="0"/>
                <a:ea typeface="Courier" charset="0"/>
                <a:cs typeface="Courier" charset="0"/>
              </a:rPr>
              <a:t># </a:t>
            </a:r>
            <a:r>
              <a:rPr lang="en-US" altLang="zh-CN" sz="2000" b="1" dirty="0">
                <a:solidFill>
                  <a:srgbClr val="880000"/>
                </a:solidFill>
                <a:latin typeface="Courier" charset="0"/>
                <a:ea typeface="Courier" charset="0"/>
                <a:cs typeface="Courier" charset="0"/>
              </a:rPr>
              <a:t>without parentheses is also work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tup3 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'a'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'b'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'c'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'd'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endParaRPr lang="en-US" altLang="zh-CN" sz="2000" b="1" dirty="0" smtClean="0">
              <a:solidFill>
                <a:srgbClr val="880000"/>
              </a:solidFill>
              <a:latin typeface="Courier" charset="0"/>
              <a:ea typeface="Courier" charset="0"/>
              <a:cs typeface="Courier" charset="0"/>
            </a:endParaRPr>
          </a:p>
          <a:p>
            <a:endParaRPr lang="en-US" altLang="zh-CN" sz="2000" b="1" dirty="0">
              <a:solidFill>
                <a:srgbClr val="880000"/>
              </a:solidFill>
              <a:latin typeface="Courier" charset="0"/>
              <a:ea typeface="Courier" charset="0"/>
              <a:cs typeface="Courier" charset="0"/>
            </a:endParaRPr>
          </a:p>
          <a:p>
            <a:r>
              <a:rPr lang="en-US" altLang="zh-CN" sz="2000" b="1" dirty="0" smtClean="0">
                <a:solidFill>
                  <a:srgbClr val="880000"/>
                </a:solidFill>
                <a:latin typeface="Courier" charset="0"/>
                <a:ea typeface="Courier" charset="0"/>
                <a:cs typeface="Courier" charset="0"/>
              </a:rPr>
              <a:t># </a:t>
            </a:r>
            <a:r>
              <a:rPr lang="en-US" altLang="zh-CN" sz="2000" b="1" dirty="0">
                <a:solidFill>
                  <a:srgbClr val="880000"/>
                </a:solidFill>
                <a:latin typeface="Courier" charset="0"/>
                <a:ea typeface="Courier" charset="0"/>
                <a:cs typeface="Courier" charset="0"/>
              </a:rPr>
              <a:t>To write a tuple containing a single value you have to include a comma, even though there is only one value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tup4 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50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</a:t>
            </a:r>
            <a:endParaRPr lang="en-US" altLang="zh-CN" sz="2000" b="1" dirty="0">
              <a:effectLst/>
              <a:latin typeface="Courier" charset="0"/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47554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Accessing Values in Tuples</a:t>
            </a:r>
            <a:endParaRPr kumimoji="1"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685330" y="2222218"/>
            <a:ext cx="7773340" cy="378565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tup1 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'physics'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'chemistry'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1997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2000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endParaRPr lang="en-US" altLang="zh-CN" sz="2000" b="1" dirty="0" smtClean="0">
              <a:solidFill>
                <a:srgbClr val="000000"/>
              </a:solidFill>
              <a:latin typeface="Courier" charset="0"/>
              <a:ea typeface="Courier" charset="0"/>
              <a:cs typeface="Courier" charset="0"/>
            </a:endParaRPr>
          </a:p>
          <a:p>
            <a:r>
              <a:rPr lang="en-US" altLang="zh-CN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tup2 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1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2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3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4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5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6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7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endParaRPr lang="en-US" altLang="zh-CN" sz="2000" b="1" dirty="0" smtClean="0">
              <a:solidFill>
                <a:srgbClr val="000088"/>
              </a:solidFill>
              <a:latin typeface="Courier" charset="0"/>
              <a:ea typeface="Courier" charset="0"/>
              <a:cs typeface="Courier" charset="0"/>
            </a:endParaRPr>
          </a:p>
          <a:p>
            <a:r>
              <a:rPr lang="en-US" altLang="zh-CN" sz="2000" b="1" dirty="0" smtClean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print</a:t>
            </a:r>
            <a:r>
              <a:rPr lang="en-US" altLang="zh-CN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'tup1[0]: '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tup1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[</a:t>
            </a:r>
            <a:r>
              <a:rPr lang="en-US" altLang="zh-CN" sz="2000" b="1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0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])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en-US" altLang="zh-CN" sz="2000" b="1" dirty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print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'tup2[1:5]: '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tup2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[</a:t>
            </a:r>
            <a:r>
              <a:rPr lang="en-US" altLang="zh-CN" sz="2000" b="1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1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:</a:t>
            </a:r>
            <a:r>
              <a:rPr lang="en-US" altLang="zh-CN" sz="2000" b="1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5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])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endParaRPr lang="en-US" altLang="zh-CN" sz="2000" b="1" dirty="0" smtClean="0">
              <a:solidFill>
                <a:srgbClr val="880000"/>
              </a:solidFill>
              <a:latin typeface="Courier" charset="0"/>
              <a:ea typeface="Courier" charset="0"/>
              <a:cs typeface="Courier" charset="0"/>
            </a:endParaRPr>
          </a:p>
          <a:p>
            <a:endParaRPr lang="en-US" altLang="zh-CN" sz="2000" b="1" dirty="0">
              <a:solidFill>
                <a:srgbClr val="880000"/>
              </a:solidFill>
              <a:latin typeface="Courier" charset="0"/>
              <a:ea typeface="Courier" charset="0"/>
              <a:cs typeface="Courier" charset="0"/>
            </a:endParaRPr>
          </a:p>
          <a:p>
            <a:endParaRPr lang="en-US" altLang="zh-CN" sz="2000" b="1" dirty="0" smtClean="0">
              <a:solidFill>
                <a:srgbClr val="880000"/>
              </a:solidFill>
              <a:latin typeface="Courier" charset="0"/>
              <a:ea typeface="Courier" charset="0"/>
              <a:cs typeface="Courier" charset="0"/>
            </a:endParaRPr>
          </a:p>
          <a:p>
            <a:r>
              <a:rPr lang="en-US" altLang="zh-CN" sz="2000" b="1" dirty="0" smtClean="0">
                <a:solidFill>
                  <a:srgbClr val="880000"/>
                </a:solidFill>
                <a:latin typeface="Courier" charset="0"/>
                <a:ea typeface="Courier" charset="0"/>
                <a:cs typeface="Courier" charset="0"/>
              </a:rPr>
              <a:t># </a:t>
            </a:r>
            <a:r>
              <a:rPr lang="en-US" altLang="zh-CN" sz="2000" b="1" dirty="0">
                <a:solidFill>
                  <a:srgbClr val="880000"/>
                </a:solidFill>
                <a:latin typeface="Courier" charset="0"/>
                <a:ea typeface="Courier" charset="0"/>
                <a:cs typeface="Courier" charset="0"/>
              </a:rPr>
              <a:t>results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en-US" altLang="zh-CN" sz="2000" b="1" dirty="0">
                <a:solidFill>
                  <a:srgbClr val="880000"/>
                </a:solidFill>
                <a:latin typeface="Courier" charset="0"/>
                <a:ea typeface="Courier" charset="0"/>
                <a:cs typeface="Courier" charset="0"/>
              </a:rPr>
              <a:t># tup1[0]: physics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en-US" altLang="zh-CN" sz="2000" b="1" dirty="0">
                <a:solidFill>
                  <a:srgbClr val="880000"/>
                </a:solidFill>
                <a:latin typeface="Courier" charset="0"/>
                <a:ea typeface="Courier" charset="0"/>
                <a:cs typeface="Courier" charset="0"/>
              </a:rPr>
              <a:t># tup2[1:5]: [2, 3, 4, 5]</a:t>
            </a:r>
            <a:endParaRPr lang="en-US" altLang="zh-CN" sz="2000" b="1" dirty="0">
              <a:effectLst/>
              <a:latin typeface="Courier" charset="0"/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12419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Update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Tuple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zh-CN" dirty="0" smtClean="0"/>
              <a:t>Can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not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be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updated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05057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Basic</a:t>
            </a:r>
            <a:r>
              <a:rPr kumimoji="1" lang="zh-CN" altLang="en-US" dirty="0"/>
              <a:t> </a:t>
            </a:r>
            <a:r>
              <a:rPr kumimoji="1" lang="en-US" altLang="zh-CN" dirty="0"/>
              <a:t>List</a:t>
            </a:r>
            <a:r>
              <a:rPr kumimoji="1" lang="zh-CN" altLang="en-US" dirty="0"/>
              <a:t> </a:t>
            </a:r>
            <a:r>
              <a:rPr kumimoji="1" lang="en-US" altLang="zh-CN" dirty="0"/>
              <a:t>Operations</a:t>
            </a:r>
            <a:endParaRPr kumimoji="1" lang="zh-CN" altLang="en-US" dirty="0"/>
          </a:p>
        </p:txBody>
      </p:sp>
      <p:graphicFrame>
        <p:nvGraphicFramePr>
          <p:cNvPr id="5" name="内容占位符 4"/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400555553"/>
              </p:ext>
            </p:extLst>
          </p:nvPr>
        </p:nvGraphicFramePr>
        <p:xfrm>
          <a:off x="685332" y="2571372"/>
          <a:ext cx="7773339" cy="3345952"/>
        </p:xfrm>
        <a:graphic>
          <a:graphicData uri="http://schemas.openxmlformats.org/drawingml/2006/table">
            <a:tbl>
              <a:tblPr firstRow="1" firstCol="1" bandRow="1"/>
              <a:tblGrid>
                <a:gridCol w="2373178"/>
                <a:gridCol w="2809048"/>
                <a:gridCol w="2591113"/>
              </a:tblGrid>
              <a:tr h="836488">
                <a:tc>
                  <a:txBody>
                    <a:bodyPr/>
                    <a:lstStyle/>
                    <a:p>
                      <a:pPr>
                        <a:spcAft>
                          <a:spcPts val="1500"/>
                        </a:spcAft>
                      </a:pPr>
                      <a:r>
                        <a:rPr lang="en-US" sz="2000" b="1" i="0" kern="100" dirty="0">
                          <a:solidFill>
                            <a:srgbClr val="313131"/>
                          </a:solidFill>
                          <a:effectLst/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Python Expression</a:t>
                      </a:r>
                      <a:endParaRPr lang="zh-CN" sz="2000" b="1" i="0" kern="100" dirty="0">
                        <a:effectLst/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500"/>
                        </a:spcAft>
                      </a:pPr>
                      <a:r>
                        <a:rPr lang="en-US" sz="2000" b="1" i="0" kern="100">
                          <a:solidFill>
                            <a:srgbClr val="313131"/>
                          </a:solidFill>
                          <a:effectLst/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Results</a:t>
                      </a:r>
                      <a:endParaRPr lang="zh-CN" sz="2000" b="1" i="0" kern="100">
                        <a:effectLst/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500"/>
                        </a:spcAft>
                      </a:pPr>
                      <a:r>
                        <a:rPr lang="en-US" sz="2000" b="1" i="0" kern="100">
                          <a:solidFill>
                            <a:srgbClr val="313131"/>
                          </a:solidFill>
                          <a:effectLst/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Description</a:t>
                      </a:r>
                      <a:endParaRPr lang="zh-CN" sz="2000" b="1" i="0" kern="100">
                        <a:effectLst/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836488">
                <a:tc>
                  <a:txBody>
                    <a:bodyPr/>
                    <a:lstStyle/>
                    <a:p>
                      <a:pPr>
                        <a:spcAft>
                          <a:spcPts val="1500"/>
                        </a:spcAft>
                      </a:pPr>
                      <a:r>
                        <a:rPr lang="en-US" sz="2000" b="1" i="0" kern="100" dirty="0" err="1">
                          <a:solidFill>
                            <a:srgbClr val="313131"/>
                          </a:solidFill>
                          <a:effectLst/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len</a:t>
                      </a:r>
                      <a:r>
                        <a:rPr lang="en-US" sz="2000" b="1" i="0" kern="100" dirty="0">
                          <a:solidFill>
                            <a:srgbClr val="313131"/>
                          </a:solidFill>
                          <a:effectLst/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((1, 2, 3))</a:t>
                      </a:r>
                      <a:endParaRPr lang="zh-CN" sz="2000" b="1" i="0" kern="100" dirty="0">
                        <a:effectLst/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500"/>
                        </a:spcAft>
                      </a:pPr>
                      <a:r>
                        <a:rPr lang="en-US" sz="2000" b="1" i="0" kern="100" dirty="0">
                          <a:solidFill>
                            <a:srgbClr val="313131"/>
                          </a:solidFill>
                          <a:effectLst/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3</a:t>
                      </a:r>
                      <a:endParaRPr lang="zh-CN" sz="2000" b="1" i="0" kern="100" dirty="0">
                        <a:effectLst/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500"/>
                        </a:spcAft>
                      </a:pPr>
                      <a:r>
                        <a:rPr lang="en-US" sz="2000" b="1" i="0" kern="100">
                          <a:solidFill>
                            <a:srgbClr val="313131"/>
                          </a:solidFill>
                          <a:effectLst/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Length</a:t>
                      </a:r>
                      <a:endParaRPr lang="zh-CN" sz="2000" b="1" i="0" kern="100">
                        <a:effectLst/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36488">
                <a:tc>
                  <a:txBody>
                    <a:bodyPr/>
                    <a:lstStyle/>
                    <a:p>
                      <a:pPr>
                        <a:spcAft>
                          <a:spcPts val="1500"/>
                        </a:spcAft>
                      </a:pPr>
                      <a:r>
                        <a:rPr lang="en-US" sz="2000" b="1" i="0" kern="100">
                          <a:solidFill>
                            <a:srgbClr val="313131"/>
                          </a:solidFill>
                          <a:effectLst/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(1, 2, 3) + (4, 5, 6)</a:t>
                      </a:r>
                      <a:endParaRPr lang="zh-CN" sz="2000" b="1" i="0" kern="100">
                        <a:effectLst/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500"/>
                        </a:spcAft>
                      </a:pPr>
                      <a:r>
                        <a:rPr lang="en-US" sz="2000" b="1" i="0" kern="100" dirty="0">
                          <a:solidFill>
                            <a:srgbClr val="313131"/>
                          </a:solidFill>
                          <a:effectLst/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(1, 2, 3, 4, 5, 6)</a:t>
                      </a:r>
                      <a:endParaRPr lang="zh-CN" sz="2000" b="1" i="0" kern="100" dirty="0">
                        <a:effectLst/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500"/>
                        </a:spcAft>
                      </a:pPr>
                      <a:r>
                        <a:rPr lang="en-US" sz="2000" b="1" i="0" kern="100" dirty="0">
                          <a:solidFill>
                            <a:srgbClr val="313131"/>
                          </a:solidFill>
                          <a:effectLst/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Concatenation</a:t>
                      </a:r>
                      <a:endParaRPr lang="zh-CN" sz="2000" b="1" i="0" kern="100" dirty="0">
                        <a:effectLst/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36488">
                <a:tc>
                  <a:txBody>
                    <a:bodyPr/>
                    <a:lstStyle/>
                    <a:p>
                      <a:pPr>
                        <a:spcAft>
                          <a:spcPts val="1500"/>
                        </a:spcAft>
                      </a:pPr>
                      <a:r>
                        <a:rPr lang="en-US" sz="2000" b="1" i="0" kern="100">
                          <a:solidFill>
                            <a:srgbClr val="313131"/>
                          </a:solidFill>
                          <a:effectLst/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('Hi!',) * 4</a:t>
                      </a:r>
                      <a:endParaRPr lang="zh-CN" sz="2000" b="1" i="0" kern="100">
                        <a:effectLst/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500"/>
                        </a:spcAft>
                      </a:pPr>
                      <a:r>
                        <a:rPr lang="en-US" sz="2000" b="1" i="0" kern="100">
                          <a:solidFill>
                            <a:srgbClr val="313131"/>
                          </a:solidFill>
                          <a:effectLst/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('Hi!', 'Hi!', 'Hi!', 'Hi!')</a:t>
                      </a:r>
                      <a:endParaRPr lang="zh-CN" sz="2000" b="1" i="0" kern="100">
                        <a:effectLst/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500"/>
                        </a:spcAft>
                      </a:pPr>
                      <a:r>
                        <a:rPr lang="en-US" sz="2000" b="1" i="0" kern="100" dirty="0">
                          <a:solidFill>
                            <a:srgbClr val="313131"/>
                          </a:solidFill>
                          <a:effectLst/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Repetition</a:t>
                      </a:r>
                      <a:endParaRPr lang="zh-CN" sz="2000" b="1" i="0" kern="100" dirty="0">
                        <a:effectLst/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98423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“mutable”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Tuple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>
          <a:xfrm>
            <a:off x="685800" y="1858553"/>
            <a:ext cx="7772870" cy="712283"/>
          </a:xfrm>
        </p:spPr>
        <p:txBody>
          <a:bodyPr/>
          <a:lstStyle/>
          <a:p>
            <a:r>
              <a:rPr kumimoji="1" lang="en-US" altLang="zh-CN" dirty="0" smtClean="0"/>
              <a:t>Try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the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code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below:</a:t>
            </a:r>
            <a:endParaRPr kumimoji="1"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685332" y="2570836"/>
            <a:ext cx="7773340" cy="378565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mr-IN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tup3 </a:t>
            </a:r>
            <a:r>
              <a:rPr lang="mr-IN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mr-IN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mr-IN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mr-IN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mr-IN" altLang="zh-CN" sz="2000" b="1" dirty="0" err="1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physics</a:t>
            </a:r>
            <a:r>
              <a:rPr lang="mr-IN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mr-IN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mr-IN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mr-IN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mr-IN" altLang="zh-CN" sz="2000" b="1" dirty="0" err="1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chemistry</a:t>
            </a:r>
            <a:r>
              <a:rPr lang="mr-IN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mr-IN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mr-IN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mr-IN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[</a:t>
            </a:r>
            <a:r>
              <a:rPr lang="mr-IN" altLang="zh-CN" sz="2000" b="1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1997</a:t>
            </a:r>
            <a:r>
              <a:rPr lang="mr-IN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mr-IN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mr-IN" altLang="zh-CN" sz="2000" b="1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2000</a:t>
            </a:r>
            <a:r>
              <a:rPr lang="mr-IN" altLang="zh-CN" sz="2000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])</a:t>
            </a:r>
            <a:endParaRPr lang="en-US" altLang="zh-CN" sz="2000" b="1" dirty="0" smtClean="0">
              <a:solidFill>
                <a:srgbClr val="666600"/>
              </a:solidFill>
              <a:latin typeface="Courier" charset="0"/>
              <a:ea typeface="Courier" charset="0"/>
              <a:cs typeface="Courier" charset="0"/>
            </a:endParaRPr>
          </a:p>
          <a:p>
            <a:endParaRPr lang="mr-IN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mr-IN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list1 </a:t>
            </a:r>
            <a:r>
              <a:rPr lang="mr-IN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mr-IN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tup3</a:t>
            </a:r>
            <a:r>
              <a:rPr lang="mr-IN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[</a:t>
            </a:r>
            <a:r>
              <a:rPr lang="mr-IN" altLang="zh-CN" sz="2000" b="1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2</a:t>
            </a:r>
            <a:r>
              <a:rPr lang="mr-IN" altLang="zh-CN" sz="2000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]</a:t>
            </a:r>
            <a:endParaRPr lang="mr-IN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mr-IN" altLang="zh-CN" sz="2000" b="1" dirty="0" err="1" smtClean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print</a:t>
            </a:r>
            <a:r>
              <a:rPr lang="zh-CN" altLang="en-US" sz="2000" b="1" dirty="0" smtClean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mr-IN" altLang="zh-CN" sz="2000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mr-IN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'list1: '</a:t>
            </a:r>
            <a:r>
              <a:rPr lang="mr-IN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mr-IN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list1</a:t>
            </a:r>
            <a:r>
              <a:rPr lang="mr-IN" altLang="zh-CN" sz="2000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</a:t>
            </a:r>
            <a:endParaRPr lang="en-US" altLang="zh-CN" sz="2000" b="1" dirty="0" smtClean="0">
              <a:latin typeface="Courier" charset="0"/>
              <a:ea typeface="Courier" charset="0"/>
              <a:cs typeface="Courier" charset="0"/>
            </a:endParaRPr>
          </a:p>
          <a:p>
            <a:endParaRPr lang="mr-IN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mr-IN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list1</a:t>
            </a:r>
            <a:r>
              <a:rPr lang="mr-IN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[</a:t>
            </a:r>
            <a:r>
              <a:rPr lang="mr-IN" altLang="zh-CN" sz="2000" b="1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0</a:t>
            </a:r>
            <a:r>
              <a:rPr lang="mr-IN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]</a:t>
            </a:r>
            <a:r>
              <a:rPr lang="mr-IN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mr-IN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mr-IN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mr-IN" altLang="zh-CN" sz="2000" b="1" dirty="0" smtClean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1998</a:t>
            </a:r>
            <a:endParaRPr lang="mr-IN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mr-IN" altLang="zh-CN" sz="2000" b="1" dirty="0" err="1" smtClean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print</a:t>
            </a:r>
            <a:r>
              <a:rPr lang="zh-CN" altLang="en-US" sz="2000" b="1" dirty="0" smtClean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mr-IN" altLang="zh-CN" sz="2000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mr-IN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'list1: '</a:t>
            </a:r>
            <a:r>
              <a:rPr lang="mr-IN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mr-IN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list1</a:t>
            </a:r>
            <a:r>
              <a:rPr lang="mr-IN" altLang="zh-CN" sz="2000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</a:t>
            </a:r>
            <a:endParaRPr lang="en-US" altLang="zh-CN" sz="2000" b="1" dirty="0" smtClean="0">
              <a:solidFill>
                <a:srgbClr val="666600"/>
              </a:solidFill>
              <a:latin typeface="Courier" charset="0"/>
              <a:ea typeface="Courier" charset="0"/>
              <a:cs typeface="Courier" charset="0"/>
            </a:endParaRPr>
          </a:p>
          <a:p>
            <a:r>
              <a:rPr lang="mr-IN" altLang="zh-CN" sz="2000" b="1" dirty="0" err="1" smtClean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print</a:t>
            </a:r>
            <a:r>
              <a:rPr lang="zh-CN" altLang="en-US" sz="2000" b="1" dirty="0" smtClean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mr-IN" altLang="zh-CN" sz="2000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mr-IN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'tup3: '</a:t>
            </a:r>
            <a:r>
              <a:rPr lang="mr-IN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mr-IN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tup3</a:t>
            </a:r>
            <a:r>
              <a:rPr lang="mr-IN" altLang="zh-CN" sz="2000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</a:t>
            </a:r>
            <a:endParaRPr lang="en-US" altLang="zh-CN" sz="2000" b="1" dirty="0" smtClean="0">
              <a:solidFill>
                <a:srgbClr val="666600"/>
              </a:solidFill>
              <a:latin typeface="Courier" charset="0"/>
              <a:ea typeface="Courier" charset="0"/>
              <a:cs typeface="Courier" charset="0"/>
            </a:endParaRPr>
          </a:p>
          <a:p>
            <a:endParaRPr lang="mr-IN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mr-IN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list1</a:t>
            </a:r>
            <a:r>
              <a:rPr lang="mr-IN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mr-IN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append</a:t>
            </a:r>
            <a:r>
              <a:rPr lang="mr-IN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mr-IN" altLang="zh-CN" sz="2000" b="1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1991</a:t>
            </a:r>
            <a:r>
              <a:rPr lang="mr-IN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</a:t>
            </a:r>
            <a:endParaRPr lang="mr-IN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mr-IN" altLang="zh-CN" sz="2000" b="1" dirty="0" err="1" smtClean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print</a:t>
            </a:r>
            <a:r>
              <a:rPr lang="zh-CN" altLang="en-US" sz="2000" b="1" dirty="0" smtClean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mr-IN" altLang="zh-CN" sz="2000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mr-IN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'list1: '</a:t>
            </a:r>
            <a:r>
              <a:rPr lang="mr-IN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mr-IN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list1</a:t>
            </a:r>
            <a:r>
              <a:rPr lang="mr-IN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</a:t>
            </a:r>
            <a:endParaRPr lang="mr-IN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mr-IN" altLang="zh-CN" sz="2000" b="1" dirty="0" err="1" smtClean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print</a:t>
            </a:r>
            <a:r>
              <a:rPr lang="zh-CN" altLang="en-US" sz="2000" b="1" dirty="0" smtClean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mr-IN" altLang="zh-CN" sz="2000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mr-IN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'tup3: '</a:t>
            </a:r>
            <a:r>
              <a:rPr lang="mr-IN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mr-IN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tup3</a:t>
            </a:r>
            <a:r>
              <a:rPr lang="mr-IN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</a:t>
            </a:r>
            <a:endParaRPr lang="mr-IN" altLang="zh-CN" sz="2000" b="1" dirty="0">
              <a:effectLst/>
              <a:latin typeface="Courier" charset="0"/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89879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“mutable”</a:t>
            </a:r>
            <a:r>
              <a:rPr kumimoji="1" lang="zh-CN" altLang="en-US" dirty="0"/>
              <a:t> </a:t>
            </a:r>
            <a:r>
              <a:rPr kumimoji="1" lang="en-US" altLang="zh-CN" dirty="0"/>
              <a:t>Tuple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/>
              <a:t>Python tuples have a surprising trait: they are immutable, but their values may change. This may happen when a </a:t>
            </a:r>
            <a:r>
              <a:rPr lang="zh-CN" altLang="zh-CN" dirty="0"/>
              <a:t>tuple holds a reference to any mutable object, such as a list. In fact, the tuple did not change, it still has the same references to other objects that it did before</a:t>
            </a:r>
            <a:r>
              <a:rPr lang="zh-CN" altLang="zh-CN" dirty="0" smtClean="0"/>
              <a:t>.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9327459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086385" y="2967335"/>
            <a:ext cx="4971233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8000" b="1" cap="none" spc="0" dirty="0" smtClean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Questions?</a:t>
            </a:r>
            <a:endParaRPr lang="zh-CN" altLang="en-US" sz="8000" b="1" cap="none" spc="0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176486586"/>
      </p:ext>
    </p:extLst>
  </p:cSld>
  <p:clrMapOvr>
    <a:masterClrMapping/>
  </p:clrMapOvr>
</p:sld>
</file>

<file path=ppt/theme/theme1.xml><?xml version="1.0" encoding="utf-8"?>
<a:theme xmlns:a="http://schemas.openxmlformats.org/drawingml/2006/main" name="水滴">
  <a:themeElements>
    <a:clrScheme name="水滴">
      <a:dk1>
        <a:sysClr val="windowText" lastClr="000000"/>
      </a:dk1>
      <a:lt1>
        <a:sysClr val="window" lastClr="FFFFFF"/>
      </a:lt1>
      <a:dk2>
        <a:srgbClr val="1C647B"/>
      </a:dk2>
      <a:lt2>
        <a:srgbClr val="98B7D3"/>
      </a:lt2>
      <a:accent1>
        <a:srgbClr val="274FA4"/>
      </a:accent1>
      <a:accent2>
        <a:srgbClr val="48A8D0"/>
      </a:accent2>
      <a:accent3>
        <a:srgbClr val="53B18F"/>
      </a:accent3>
      <a:accent4>
        <a:srgbClr val="D78D38"/>
      </a:accent4>
      <a:accent5>
        <a:srgbClr val="BA3F51"/>
      </a:accent5>
      <a:accent6>
        <a:srgbClr val="AE52D9"/>
      </a:accent6>
      <a:hlink>
        <a:srgbClr val="2AA2DA"/>
      </a:hlink>
      <a:folHlink>
        <a:srgbClr val="76A3B8"/>
      </a:folHlink>
    </a:clrScheme>
    <a:fontScheme name="水滴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水滴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92000"/>
                <a:satMod val="180000"/>
                <a:lumMod val="114000"/>
              </a:schemeClr>
            </a:gs>
            <a:gs pos="100000">
              <a:schemeClr val="phClr">
                <a:shade val="92000"/>
                <a:satMod val="170000"/>
                <a:lumMod val="96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DEB094D4-7FD8-4F86-93D5-B0F1341EF586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Droplet</Template>
  <TotalTime>5113</TotalTime>
  <Words>1025</Words>
  <Application>Microsoft Macintosh PowerPoint</Application>
  <PresentationFormat>全屏显示(4:3)</PresentationFormat>
  <Paragraphs>256</Paragraphs>
  <Slides>30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38" baseType="lpstr">
      <vt:lpstr>Courier</vt:lpstr>
      <vt:lpstr>DengXian</vt:lpstr>
      <vt:lpstr>Menlo</vt:lpstr>
      <vt:lpstr>Times New Roman</vt:lpstr>
      <vt:lpstr>Tw Cen MT</vt:lpstr>
      <vt:lpstr>宋体</vt:lpstr>
      <vt:lpstr>Arial</vt:lpstr>
      <vt:lpstr>水滴</vt:lpstr>
      <vt:lpstr>Data Structures -- List and Tuple</vt:lpstr>
      <vt:lpstr>Data Structures</vt:lpstr>
      <vt:lpstr>Sequence</vt:lpstr>
      <vt:lpstr>Python List</vt:lpstr>
      <vt:lpstr>Python List</vt:lpstr>
      <vt:lpstr>Accessing Values in Lists</vt:lpstr>
      <vt:lpstr>Accessing Values in Lists</vt:lpstr>
      <vt:lpstr>Accessing Values in Lists</vt:lpstr>
      <vt:lpstr>Accessing Values in Lists</vt:lpstr>
      <vt:lpstr>Accessing Values in Lists</vt:lpstr>
      <vt:lpstr>Accessing Values in Lists</vt:lpstr>
      <vt:lpstr>Updating List</vt:lpstr>
      <vt:lpstr>Updating List</vt:lpstr>
      <vt:lpstr>Delete List Elements</vt:lpstr>
      <vt:lpstr>Basic List Operations</vt:lpstr>
      <vt:lpstr>Built-in List Functions &amp; Methods</vt:lpstr>
      <vt:lpstr>list.append(obj)</vt:lpstr>
      <vt:lpstr>list.insert(index, obj)</vt:lpstr>
      <vt:lpstr>list.extend(seq)</vt:lpstr>
      <vt:lpstr>Built-in List Functions &amp; Methods</vt:lpstr>
      <vt:lpstr>Built-in List Functions &amp; Methods</vt:lpstr>
      <vt:lpstr>Data Structures -- List and Tuple</vt:lpstr>
      <vt:lpstr>Tuple</vt:lpstr>
      <vt:lpstr>Creating Tuple</vt:lpstr>
      <vt:lpstr>Accessing Values in Tuples</vt:lpstr>
      <vt:lpstr>Update Tuple</vt:lpstr>
      <vt:lpstr>Basic List Operations</vt:lpstr>
      <vt:lpstr>“mutable” Tuple</vt:lpstr>
      <vt:lpstr>“mutable” Tuple</vt:lpstr>
      <vt:lpstr>PowerPoint 演示文稿</vt:lpstr>
    </vt:vector>
  </TitlesOfParts>
  <Company/>
  <LinksUpToDate>false</LinksUpToDate>
  <SharedDoc>false</SharedDoc>
  <HyperlinksChanged>false</HyperlinksChanged>
  <AppVersion>15.0027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Django introduction</dc:title>
  <dc:creator>Jacqueline Jiang</dc:creator>
  <cp:lastModifiedBy>Jacqueline Jiang</cp:lastModifiedBy>
  <cp:revision>805</cp:revision>
  <dcterms:created xsi:type="dcterms:W3CDTF">2017-05-27T08:15:31Z</dcterms:created>
  <dcterms:modified xsi:type="dcterms:W3CDTF">2017-07-05T06:26:02Z</dcterms:modified>
</cp:coreProperties>
</file>